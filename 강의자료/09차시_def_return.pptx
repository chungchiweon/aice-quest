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도입: 자판기 비유 — 동전(입력)을 넣으면 콜라(출력). 같은 계산을 100번 하면 함수로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정의 함수와 결과 반환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공식을 자판기로 만드는 def, 결과를 뱉어내는 return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어소시에이트 실기 · 파이썬 기초 · 흥해공고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전체에 내 규칙 적용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df['등급'] = df['점수'].apply(my_func) — 함수를 만들어 두면 판다스가 한 줄씩 넣어 준다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 함수 재사용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훈련 데이터와 시험 데이터에 똑같은 전처리 — 함수 하나를 두 번 부른다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을 빼먹으면 함수가 None 을 돌려준다. apply 결과 열이 전부 None 이면 십중팔구 이것.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 — 규칙에 이름을 붙인다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120640" cy="2377440"/>
          </a:xfrm>
          <a:prstGeom prst="roundRect">
            <a:avLst>
              <a:gd name="adj" fmla="val 3077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81328"/>
            <a:ext cx="4791456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calculate_price(price, tax_rate=0.1):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tax = price * tax_rate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total = price + tax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price, tax, total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base, vat, final_price = calculate_price(25000)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f'원가:{base}원, 세금:{vat}원 -&gt; 최종:{final_price}원'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886200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9593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4215384"/>
            <a:ext cx="4791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원가:25000원, 세금:2500.0원 -&gt; 최종:27500.0원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806440" y="1371600"/>
            <a:ext cx="2880360" cy="324612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 읽기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92024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def 이름(입력들):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안쪽은 들여쓰기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tax_rate=0.1 은 기본값 — 안 주면 0.1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정의만 해선 안 돌아간다. 이름(값) 으로 '불러야' 실행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— 계산 결과를 밖으로 보낸다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81328"/>
            <a:ext cx="3648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grade(score):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90: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'B'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위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에서 끝났으면 여기 안 옴</a:t>
            </a:r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(grade(95), grade(70))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520440"/>
            <a:ext cx="3977640" cy="640080"/>
          </a:xfrm>
          <a:prstGeom prst="roundRect">
            <a:avLst>
              <a:gd name="adj" fmla="val 1142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593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3849624"/>
            <a:ext cx="3648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37160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73752" y="1481328"/>
            <a:ext cx="3648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3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153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grade_bad(score):</a:t>
            </a:r>
            <a:pPr indent="0" marL="0">
              <a:lnSpc>
                <a:spcPct val="115000"/>
              </a:lnSpc>
              <a:buNone/>
            </a:pPr>
            <a:endParaRPr lang="en-US" sz="153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3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53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53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90:</a:t>
            </a:r>
            <a:pPr indent="0" marL="0">
              <a:lnSpc>
                <a:spcPct val="115000"/>
              </a:lnSpc>
              <a:buNone/>
            </a:pPr>
            <a:endParaRPr lang="en-US" sz="153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3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 = </a:t>
            </a:r>
            <a:pPr indent="0" marL="0">
              <a:lnSpc>
                <a:spcPct val="115000"/>
              </a:lnSpc>
              <a:buNone/>
            </a:pPr>
            <a:r>
              <a:rPr lang="en-US" sz="1532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'A'</a:t>
            </a:r>
            <a:pPr indent="0" marL="0">
              <a:lnSpc>
                <a:spcPct val="115000"/>
              </a:lnSpc>
              <a:buNone/>
            </a:pPr>
            <a:endParaRPr lang="en-US" sz="153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3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</a:t>
            </a:r>
            <a:pPr indent="0" marL="0">
              <a:lnSpc>
                <a:spcPct val="115000"/>
              </a:lnSpc>
              <a:buNone/>
            </a:pPr>
            <a:r>
              <a:rPr lang="en-US" sz="153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53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이 없다!</a:t>
            </a:r>
            <a:pPr indent="0" marL="0">
              <a:lnSpc>
                <a:spcPct val="115000"/>
              </a:lnSpc>
              <a:buNone/>
            </a:pPr>
            <a:endParaRPr lang="en-US" sz="1532" dirty="0"/>
          </a:p>
          <a:p>
            <a:pPr indent="0" marL="0">
              <a:lnSpc>
                <a:spcPct val="115000"/>
              </a:lnSpc>
              <a:buNone/>
            </a:pPr>
            <a:endParaRPr lang="en-US" sz="153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3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3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(grade_bad(95))   # </a:t>
            </a:r>
            <a:pPr indent="0" marL="0">
              <a:lnSpc>
                <a:spcPct val="115000"/>
              </a:lnSpc>
              <a:buNone/>
            </a:pPr>
            <a:r>
              <a:rPr lang="en-US" sz="153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endParaRPr lang="en-US" sz="1532" dirty="0"/>
          </a:p>
        </p:txBody>
      </p:sp>
      <p:sp>
        <p:nvSpPr>
          <p:cNvPr id="12" name="Shape 10"/>
          <p:cNvSpPr/>
          <p:nvPr/>
        </p:nvSpPr>
        <p:spPr>
          <a:xfrm>
            <a:off x="4709160" y="3520440"/>
            <a:ext cx="3977640" cy="640080"/>
          </a:xfrm>
          <a:prstGeom prst="roundRect">
            <a:avLst>
              <a:gd name="adj" fmla="val 1142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73752" y="35935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873752" y="3849624"/>
            <a:ext cx="3648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29768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46227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을 만나는 순간 함수는 끝난다 · return 이 없으면 None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값 돌려주기와 받기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120640" cy="2377440"/>
          </a:xfrm>
          <a:prstGeom prst="roundRect">
            <a:avLst>
              <a:gd name="adj" fmla="val 3077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81328"/>
            <a:ext cx="4791456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stats(nums):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min(nums), max(nums), sum(nums) /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(nums)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lo, hi, avg = stats([80, 90, 75])   # 세 칸으로 받기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(lo, hi, avg)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stats([80, 90, 75])        # 튜플로 받기</a:t>
            </a:r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(result, result[2])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3840480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9136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4169664"/>
            <a:ext cx="479145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9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75 90 81.66666666666667</a:t>
            </a:r>
            <a:endParaRPr lang="en-US" sz="100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9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(75, 90, 81.66666666666667) 81.66666666666667</a:t>
            </a:r>
            <a:endParaRPr lang="en-US" sz="1009" dirty="0"/>
          </a:p>
        </p:txBody>
      </p:sp>
      <p:sp>
        <p:nvSpPr>
          <p:cNvPr id="10" name="Shape 8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return a, b, c 는 튜플 하나를 돌려준다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받는 쪽 변수 개수를 맞추면 한 번에 풀린다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개수가 다르면 ValueError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9차시 앱 코드의 base, vat, final_price 가 이 형태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apply 로 열 전체에 적용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120640" cy="3291840"/>
          </a:xfrm>
          <a:prstGeom prst="roundRect">
            <a:avLst>
              <a:gd name="adj" fmla="val 2222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81328"/>
            <a:ext cx="4791456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9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pandas as pd</a:t>
            </a:r>
            <a:pPr indent="0" marL="0">
              <a:lnSpc>
                <a:spcPct val="115000"/>
              </a:lnSpc>
              <a:buNone/>
            </a:pPr>
            <a:endParaRPr lang="en-US" sz="139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pd.DataFrame({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[95, 82, 67]})</a:t>
            </a:r>
            <a:pPr indent="0" marL="0">
              <a:lnSpc>
                <a:spcPct val="115000"/>
              </a:lnSpc>
              <a:buNone/>
            </a:pPr>
            <a:endParaRPr lang="en-US" sz="1393" dirty="0"/>
          </a:p>
          <a:p>
            <a:pPr indent="0" marL="0">
              <a:lnSpc>
                <a:spcPct val="115000"/>
              </a:lnSpc>
              <a:buNone/>
            </a:pPr>
            <a:endParaRPr lang="en-US" sz="139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to_tier(score):</a:t>
            </a:r>
            <a:pPr indent="0" marL="0">
              <a:lnSpc>
                <a:spcPct val="115000"/>
              </a:lnSpc>
              <a:buNone/>
            </a:pPr>
            <a:endParaRPr lang="en-US" sz="139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9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90:</a:t>
            </a:r>
            <a:pPr indent="0" marL="0">
              <a:lnSpc>
                <a:spcPct val="115000"/>
              </a:lnSpc>
              <a:buNone/>
            </a:pPr>
            <a:endParaRPr lang="en-US" sz="139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39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'CHALLENGER'</a:t>
            </a:r>
            <a:pPr indent="0" marL="0">
              <a:lnSpc>
                <a:spcPct val="115000"/>
              </a:lnSpc>
              <a:buNone/>
            </a:pPr>
            <a:endParaRPr lang="en-US" sz="139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9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elif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score &gt;= 70:</a:t>
            </a:r>
            <a:pPr indent="0" marL="0">
              <a:lnSpc>
                <a:spcPct val="115000"/>
              </a:lnSpc>
              <a:buNone/>
            </a:pPr>
            <a:endParaRPr lang="en-US" sz="139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139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'GOLD'</a:t>
            </a:r>
            <a:pPr indent="0" marL="0">
              <a:lnSpc>
                <a:spcPct val="115000"/>
              </a:lnSpc>
              <a:buNone/>
            </a:pPr>
            <a:endParaRPr lang="en-US" sz="139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9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'BRONZE'</a:t>
            </a:r>
            <a:pPr indent="0" marL="0">
              <a:lnSpc>
                <a:spcPct val="115000"/>
              </a:lnSpc>
              <a:buNone/>
            </a:pPr>
            <a:endParaRPr lang="en-US" sz="1393" dirty="0"/>
          </a:p>
          <a:p>
            <a:pPr indent="0" marL="0">
              <a:lnSpc>
                <a:spcPct val="115000"/>
              </a:lnSpc>
              <a:buNone/>
            </a:pPr>
            <a:endParaRPr lang="en-US" sz="139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'tier'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 df[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].apply(to_tier)</a:t>
            </a:r>
            <a:pPr indent="0" marL="0">
              <a:lnSpc>
                <a:spcPct val="115000"/>
              </a:lnSpc>
              <a:buNone/>
            </a:pPr>
            <a:endParaRPr lang="en-US" sz="139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39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(df)</a:t>
            </a:r>
            <a:endParaRPr lang="en-US" sz="1393" dirty="0"/>
          </a:p>
        </p:txBody>
      </p:sp>
      <p:sp>
        <p:nvSpPr>
          <p:cNvPr id="7" name="Shape 5"/>
          <p:cNvSpPr/>
          <p:nvPr/>
        </p:nvSpPr>
        <p:spPr>
          <a:xfrm>
            <a:off x="5806440" y="1371600"/>
            <a:ext cx="2880360" cy="1371600"/>
          </a:xfrm>
          <a:prstGeom prst="roundRect">
            <a:avLst>
              <a:gd name="adj" fmla="val 5333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71032" y="1444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971032" y="1700784"/>
            <a:ext cx="25511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score        tier</a:t>
            </a:r>
            <a:endParaRPr lang="en-US" sz="125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    95  CHALLENGER</a:t>
            </a:r>
            <a:endParaRPr lang="en-US" sz="125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   82        GOLD</a:t>
            </a:r>
            <a:endParaRPr lang="en-US" sz="1255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5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   67      BRONZE</a:t>
            </a:r>
            <a:endParaRPr lang="en-US" sz="1255" dirty="0"/>
          </a:p>
        </p:txBody>
      </p:sp>
      <p:sp>
        <p:nvSpPr>
          <p:cNvPr id="10" name="Shape 8"/>
          <p:cNvSpPr/>
          <p:nvPr/>
        </p:nvSpPr>
        <p:spPr>
          <a:xfrm>
            <a:off x="5806440" y="2880360"/>
            <a:ext cx="2880360" cy="1783080"/>
          </a:xfrm>
          <a:prstGeom prst="roundRect">
            <a:avLst>
              <a:gd name="adj" fmla="val 5128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30449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5차시 + 9차시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42900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if-elif-else 로 판정하던 걸 함수로 싸서 apply 에 넘긴다. 실기 파생변수 문제의 정석.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대신 print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6596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print 는 화면에 보여줄 뿐 값을 돌려주지 않는다. apply 에 쓰면 열이 None 으로 찬다.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정의만 하고 안 부름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276600" y="196596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 만 쓰면 아무 일도 안 일어난다. 이름(값) 으로 호출해야 실행.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괄호 빼먹기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096000" y="196596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df['score'].apply(to_tier()) 처럼 괄호를 붙이면 결과값을 넘기게 됨. 함수 이름만 넘긴다.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f(x):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 * 2)      # 화면에만 나옴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f(3)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(v)              #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9차시 (10분) · 확인 퀴즈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조립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87452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원가(price)와 세율(tax_rate)을 고르고 calculate_price 를 조립한다.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예측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276600" y="187452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세율 0.15, 원가 50000이면 최종 금액은? 실행 전에 계산.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확인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096000" y="1874520"/>
            <a:ext cx="259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차트의 원가 + 세금 = 최종 결제액이 계산과 같은지 본다.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f(): x = 1  →  print(f()) 의 출력은?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None — return 이 없다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a, b 를 받을 때 변수는 몇 개?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2개 (또는 튜플 하나로)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 로 규칙을 만들고, return 으로 값을 돌려준다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 이름(입력, 기본값=…): — 정의. 호출해야 실행된다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값 — 함수를 끝내고 값을 돌려준다. 없으면 None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 a, b, c — 튜플. 받는 변수 개수를 맞춘다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df['열'].apply(내함수) — 괄호 없이 이름만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차시 → 10차시 reshape — 배열 차원 변형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정지원</dc:creator>
  <cp:lastModifiedBy>정지원</cp:lastModifiedBy>
  <cp:revision>1</cp:revision>
  <dcterms:created xsi:type="dcterms:W3CDTF">2026-09-21T01:54:22Z</dcterms:created>
  <dcterms:modified xsi:type="dcterms:W3CDTF">2026-09-21T01:54:22Z</dcterms:modified>
</cp:coreProperties>
</file>