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1분: '가방에 사과 1개 vs 사과 박스' 비유. 오늘 목표는 리스트 안에 리스트가 들어가는 사고를 막는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대기열(큐) 비유. 번호표로 부르는 것과 이름으로 부르는 것의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딥러닝 학습은 '반복'이다. 에포크(epoch) 라는 말을 오늘 처음 소개. 얼리스탑 =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자판기 비유 — 동전(입력)을 넣으면 콜라(출력). 같은 계산을 100번 하면 함수로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마지막. 리스트 → 배열 → 2차원. fit 에러의 90% 가 차원 문제라는 걸 심어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 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6~10차시 · 리스트 추가와 삭제 · 반복과 탈출 · 함수 · 넘파이 배열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 2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단일 추가 vs 묶음 확장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  ·  extend()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누적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순번으로 꺼내기 vs 이름으로 삭제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  ·  remove()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열 분리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루프와 탈출 조건문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  ·  break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에포크·얼리스탑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정의 함수와 결과 반환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 ·  return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 전처리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넘파이 배열 생성과 차원 변경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np.array()  ·  reshape()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차원 맞추기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단일 추가 vs 묶음 확장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가방에 아이템 하나 넣기 vs 박스째 쏟아붓기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점수 누적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반복문 안에서 scores.append(score) — 실기 정답 코드에 그대로 나오는 패턴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대체 목록 합치기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컬럼 이름 리스트를 하나로 — cols.extend(more_cols)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append(리스트) 를 쓰면 리스트 안에 리스트가 통째로 들어간다. 나중에 len() 이나 인덱스가 전부 어긋난다 — 실기에서 가장 흔한 오답 원인.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append() — 아이템 하나를 원소로 덧붙인다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4256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= 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'기본검'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'물약'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inventory.append(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'전설의활'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425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['기본검', '물약', '전설의활']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1371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안의 것이 통째로 원소 1개가 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그래서 len 은 딱 1 늘어난다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리스트를 넣으면 리스트가 원소가 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[1, 2, [3, 4]]  (중첩!)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extend() — 다른 리스트의 알맹이를 꺼내 붙인다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4256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= [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'기본검'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'물약'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5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inventory.extend([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'보석_1'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'보석_2'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5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4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</a:t>
            </a:r>
            <a:pPr indent="0" marL="0">
              <a:lnSpc>
                <a:spcPct val="115000"/>
              </a:lnSpc>
              <a:buNone/>
            </a:pPr>
            <a:endParaRPr lang="en-US" sz="15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4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4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5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(inventory))</a:t>
            </a:r>
            <a:endParaRPr lang="en-US" sz="154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4425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['기본검', '물약', '보석_1', '보석_2']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1371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반드시 '여러 개' (리스트·튜플·문자열)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알맹이 개수만큼 len 이 늘어난다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문자열을 넣으면 글자 하나하나가 들어간다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extend('abc') → 'a', 'b', 'c'  (주의!)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재료, 다른 결과 — 나란히 비교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a.append([3, 4])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     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[3, 4]]</a:t>
            </a:r>
            <a:pPr indent="0" marL="0">
              <a:lnSpc>
                <a:spcPct val="115000"/>
              </a:lnSpc>
              <a:buNone/>
            </a:pPr>
            <a:endParaRPr lang="en-US" sz="155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5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(a)) </a:t>
            </a:r>
            <a:pPr indent="0" marL="0">
              <a:lnSpc>
                <a:spcPct val="115000"/>
              </a:lnSpc>
              <a:buNone/>
            </a:pPr>
            <a:r>
              <a:rPr lang="en-US" sz="155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</a:t>
            </a:r>
            <a:endParaRPr lang="en-US" sz="1554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 2]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b.extend([3, 4])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(b))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→ 중첩 리스트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3번째 원소가 [3, 4] 라는 '리스트 한 덩어리'. a[2][0] 처럼 두 번 파고 들어가야 3이 나온다.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 → 평평한 리스트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 4 가 각각 원소. 실기에서 원하는 모양은 거의 항상 이쪽.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에 리스트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scores.append([90, 85]) → 원소가 1개(리스트)로 들어감. 두 점수를 각각 넣고 싶으면 extend.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 에 문자열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names.extend('철수') → '철', '수' 로 쪼개짐. 이름 하나는 append('철수').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변수에 받기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a.append(1) 은 x 가 None. 두 함수 모두 리스트를 '제자리에서' 바꾸고 아무것도 돌려주지 않는다.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64408"/>
            <a:ext cx="7900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scores.append(90)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  ← 이미 scores 가 바뀌었다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교차검증 점수 모으기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[]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fold </a:t>
            </a:r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(5):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80 + fold * 2    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폴드별 점수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scores.append(score)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'평균:'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 / </a:t>
            </a:r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(scores))</a:t>
            </a:r>
            <a:endParaRPr lang="en-US" sz="1515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78224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[80, 82, 84, 86, 88]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평균: 84.0</a:t>
            </a:r>
            <a:endParaRPr lang="en-US" sz="114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append 인가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반복마다 점수가 '하나' 나온다. 하나씩 덧붙이니 append.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두 실험의 점수 리스트를 합칠 때는 all_scores.extend(scores).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6차시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「append &amp; extend 리스트 조립」 버튼을 누르면 코드가 나타난다. 다섯 줄을 소리 내어 읽는다.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로 넣을 단일 템(전설의활·마법지팡이·방패)과 extend 박스 알맹이 수(1~4)를 고르고 「파라미터 적용」. 코드가 바뀌는 걸 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막대 셋: 기본 2 → append 후 3 → extend 후 3+박스 수. 누르기 전에 마지막 숫자를 먼저 말해 보기.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[1]; a.append([2, 3]); len(a) 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2 — [1, [2, 3]]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하나를 추가할 때 append 와 extend 중?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append('이름'). extend 는 글자를 쪼갠다.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는 하나, extend 는 알맹이 전부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append(x) — x 가 통째로 원소 1개. len +1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extend(리스트) — 알맹이가 각각 원소. len +N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돌려주는 값은 None — 결과를 변수에 받지 않는다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반복문 안 scores.append(score)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7차시 pop() vs remove() — 순번으로 꺼내기 vs 이름으로 삭제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순번으로 꺼내기 vs 이름으로 삭제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'맨 뒤에 있는 놈 나와' vs '어뷰저 삭제해'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열(정답 라벨) 떼어내기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 = list(df.columns); target = cols.pop(-1) — 실기에서 빈출하는 정답 코드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쓸모없는 컬럼 이름 빼기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features.remove('id') — 이름을 알 때는 remove 가 한 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remove 하면 ValueError 로 프로그램이 멈춘다. 지우기 전에 'in' 으로 있는지 확인하는 습관.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pop(인덱스) — 위치로 꺼내고, 꺼낸 값을 돌려준다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[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'유저A'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'유저B'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'유저C'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'유저D'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out_user = queue.pop(-1)</a:t>
            </a:r>
            <a:pPr indent="0" marL="0">
              <a:lnSpc>
                <a:spcPct val="115000"/>
              </a:lnSpc>
              <a:buNone/>
            </a:pPr>
            <a:endParaRPr lang="en-US" sz="12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'꺼낸 값:'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out_user)</a:t>
            </a:r>
            <a:pPr indent="0" marL="0">
              <a:lnSpc>
                <a:spcPct val="115000"/>
              </a:lnSpc>
              <a:buNone/>
            </a:pPr>
            <a:endParaRPr lang="en-US" sz="12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'남은 큐:'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queue)</a:t>
            </a:r>
            <a:endParaRPr lang="en-US" sz="1211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꺼낸 값: 유저D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남은 큐: ['유저A', '유저B', '유저C', '어뷰저']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'몇 번째' — 0부터 센다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-1 은 맨 뒤, 비우면 맨 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꺼낸 값을 변수에 받을 수 있다 (remove 와 가장 큰 차이)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인덱스가 범위를 벗어나면 IndexError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remove(값) — 이름으로 찾아 첫 번째 것을 지운다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[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'유저A'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'유저B'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'유저C'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'유저D'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queue.remove(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1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1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'정제 후:'</a:t>
            </a:r>
            <a:pPr indent="0" marL="0">
              <a:lnSpc>
                <a:spcPct val="115000"/>
              </a:lnSpc>
              <a:buNone/>
            </a:pPr>
            <a:r>
              <a:rPr lang="en-US" sz="121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queue)</a:t>
            </a:r>
            <a:endParaRPr lang="en-US" sz="1211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9242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정제 후: ['유저A', '유저B', '유저C', '유저D']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4041648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queue.remove(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'없는유저'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ValueError: list.remove(x): x not in list</a:t>
            </a:r>
            <a:endParaRPr lang="en-US" sz="1394" dirty="0"/>
          </a:p>
        </p:txBody>
      </p:sp>
      <p:sp>
        <p:nvSpPr>
          <p:cNvPr id="11" name="Shape 9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'값' 자체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같은 값이 여러 개면 맨 앞 하나만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돌려주는 값은 None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없는 값이면 ValueError → 먼저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'어뷰저' in queue: 로 확인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pop(i)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remove(x)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 lst[i]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무엇으로 찾나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위치(인덱스)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값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위치(인덱스)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돌려주는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꺼낸 원소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없음 (문장)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없을 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실기 쓰임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cols.pop(-1)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cols.remove('id')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cols[0]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005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요약: 값을 '받아서 쓰려면' pop, 그냥 '없애려면' remove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꺼낸 걸 또 지움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pop(1) 로 '유저B' 를 꺼낸 뒤 remove('유저B') → ValueError. 순서를 바꾸거나 in 으로 확인.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 결과를 변수에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lst.remove('a') → x 는 None. 값이 필요하면 pop 을 쓴다.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안에서 지우기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x in lst: lst.remove(x) 는 원소를 건너뛴다. 새 리스트를 만들거나 복사본으로 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queue: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queue.remove(target)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endParaRPr lang="en-US" sz="14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42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'이미 없음'</a:t>
            </a:r>
            <a:pPr indent="0" marL="0">
              <a:lnSpc>
                <a:spcPct val="115000"/>
              </a:lnSpc>
              <a:buNone/>
            </a:pPr>
            <a:r>
              <a:rPr lang="en-US" sz="14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정답 라벨 떼어내기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'income'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'churn'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df.columns 라고 치자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cols.pop(-1)    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마지막 열 = 정답(y)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cols          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나머지 = 입력(X)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'y:'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target)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'X:'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features)</a:t>
            </a:r>
            <a:endParaRPr lang="en-US" sz="933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032504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churn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['age', 'income', 'score']</a:t>
            </a:r>
            <a:endParaRPr lang="en-US" sz="114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pop 인가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열 이름을 '받아서' 뒤에 y = df[target] 로 써야 하니까. remove 는 이름을 돌려주지 않는다.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7차시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「pop &amp; remove 삭제 파이프라인 조립」 버튼 → 큐 5명에서 pop 한 명, remove 한 명 하는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인덱스(맨 앞·맨 뒤·세 번째)와 remove 대상(어뷰저·유저B)을 고르고 「파라미터 적용」. 남을 큐를 먼저 종이에 적는다.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다섯 막대 중 주황 = pop 으로 꺼낸 사람, 빨강 = remove 로 지운 사람. 종이와 맞는지 확인.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[5, 6, 7]; v = lst.pop(0); v 와 lst 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v = 5, lst = [6, 7]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2, 1]; lst.remove(1); lst 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[2, 1] — 맨 앞 하나만 지운다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필요하면 pop, 없애기만 하면 remove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pop(i) — 위치로 꺼내고 그 값을 돌려준다. -1 은 맨 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remove(x) — 값으로 찾아 맨 앞 하나를 지운다. None 을 돌려준다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 remove → ValueError. 먼저 if x in lst 로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target = cols.pop(-1) 로 정답 열 분리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8차시 for / while vs break — 반복 루프와 탈출 조건문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루프와 탈출 조건문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횟수만큼 도는 for, 조건이 끝날 때까지 도는 while, 그리고 안전벨트 break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 반복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학습은 같은 데이터를 여러 번(epoch) 돈다. for epoch in range(n) 이 그 뼈대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얼리스탑(EarlyStopping)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손실이 더 안 줄면 멈춘다 — 조건을 보고 break 하는 것과 같은 원리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끝나는 조건이 없는 while 은 영원히 돈다(무한 루프). 노트북이 멈추면 대부분 이것. 조건 변수를 반드시 바꾸거나 break 를 둔다.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— 정해진 범위를 한 바퀴씩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4):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f'학습 중... epoch {epoch}'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'끝'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00984"/>
            <a:ext cx="4791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1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2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3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끝</a:t>
            </a:r>
            <a:endParaRPr lang="en-US" sz="114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range(1, 4) 는 1, 2, 3 — 끝 숫자는 빠진다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몇 번 돌지 '미리' 안다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들여쓰기된 줄만 반복된다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리스트도 바로 돌 수 있다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for x in [10, 20, 30]: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— 조건이 참인 동안 계속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1.0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= 0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loss &gt; 0.3: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epoch += 1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 * 0.7   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30%씩 감소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f'epoch {epoch}: loss {loss:.2f}'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0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'목표 도달'</a:t>
            </a:r>
            <a:pPr indent="0" marL="0">
              <a:lnSpc>
                <a:spcPct val="115000"/>
              </a:lnSpc>
              <a:buNone/>
            </a:pPr>
            <a:r>
              <a:rPr lang="en-US" sz="130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4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12464"/>
            <a:ext cx="47914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1: loss 0.70</a:t>
            </a:r>
            <a:endParaRPr lang="en-US" sz="8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2: loss 0.49</a:t>
            </a:r>
            <a:endParaRPr lang="en-US" sz="8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3: loss 0.34</a:t>
            </a:r>
            <a:endParaRPr lang="en-US" sz="8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4: loss 0.24</a:t>
            </a:r>
            <a:endParaRPr lang="en-US" sz="8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 도달</a:t>
            </a:r>
            <a:endParaRPr lang="en-US" sz="862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몇 번 돌지 '모를 때' 쓴다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조건이 거짓이 되는 순간 빠져나온다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안에서 조건 변수(loss)가 바뀌어야 한다 — 안 바뀌면 무한 루프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 보다 위험하니 실기에선 for 가 기본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— 조건을 만나면 즉시 탈출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max_epoch = 16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stop_point = 7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max_epoch + 1):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== stop_point: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f'조기 종료! (epoch {epoch}에서 break)'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5000"/>
              </a:lnSpc>
              <a:buNone/>
            </a:pPr>
            <a:endParaRPr lang="en-US" sz="11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f'정상 학습 중... epoch {epoch}'</a:t>
            </a:r>
            <a:pPr indent="0" marL="0">
              <a:lnSpc>
                <a:spcPct val="115000"/>
              </a:lnSpc>
              <a:buNone/>
            </a:pPr>
            <a:r>
              <a:rPr lang="en-US" sz="11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76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95344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학습 중... epoch 1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학습 중... epoch 6</a:t>
            </a:r>
            <a:endParaRPr lang="en-US" sz="8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2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조기 종료! (epoch 7에서 break)</a:t>
            </a:r>
            <a:endParaRPr lang="en-US" sz="82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16번 돌 계획이었지만 7에서 끝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break 아래 줄은 그 바퀴에서 실행 안 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가장 안쪽 반복문 하나만 빠져나온다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짝: continue — 이번 바퀴만 건너뛰고 계속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vs continue — 헷갈리는 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==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 ← 3에서 완전히 멈춤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7375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==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4 5  ← 3만 건너뜀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= 반복문 종료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얼리스탑, '찾았으니 그만', 오류가 나면 중단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continue = 이번 바퀴만 패스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행 건너뛰기, 조건에 안 맞는 데이터 무시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끝 숫자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range(1, 10) 은 9까지. 10번 돌리려면 range(1, 11) 또는 range(10).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True: 안에 break 가 없거나, 조건 변수를 안 바꾸면 영원히 돈다. 노트북 ■ 버튼으로 중단.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들여쓰기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반복할 줄은 4칸 들여쓰기. 한 줄이라도 빠지면 반복문 밖에서 한 번만 실행된다.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0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+= 1 을 잊으면 0이 무한히 찍힌다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8차시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「반복문 &amp; 탈출 조건식 조립」 버튼 → max_epoch 와 stop_point 가 든 for 문이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반복 수(10~20)와 조기 탈출 기준(4~12)을 슬라이더로 정하고 「파라미터 적용」. '정상 학습 중' 이 몇 줄 찍힐지 먼저 말한다 (기준 − 1).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점선 = 원래 계획한 횟수, 파란 막대 = 실제 돈 횟수, 빨간 막대 = break 가 걸린 회차.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 print(i) 의 출력은?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0 1 2 — 0부터, 3은 빠진다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와 continue 중 '이번 바퀴만 건너뛰기' 는?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continue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횟수를 알면 for, 모르면 while, 멈출 조건은 break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x in range(n) — n번, 끝 숫자는 빠진다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조건: — 조건이 거짓이 될 때까지. 조건 변수를 꼭 바꾼다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— 즉시 탈출 (얼리스탑), continue — 이번 바퀴만 건너뜀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for epoch in range(epochs) 로 학습 반복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9차시 def vs return — 사용자 정의 함수와 결과 반환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정의 함수와 결과 반환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공식을 자판기로 만드는 def, 결과를 뱉어내는 return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전체에 내 규칙 적용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df['등급'] = df['점수'].apply(my_func) — 함수를 만들어 두면 판다스가 한 줄씩 넣어 준다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함수 재사용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데이터와 시험 데이터에 똑같은 전처리 — 함수 하나를 두 번 부른다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을 빼먹으면 함수가 None 을 돌려준다. apply 결과 열이 전부 None 이면 십중팔구 이것.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— 규칙에 이름을 붙인다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calculate_price(price, tax_rate=0.1):</a:t>
            </a:r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 = price * tax_rate</a:t>
            </a:r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price + tax</a:t>
            </a:r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0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price, tax, total</a:t>
            </a:r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base, vat, final_price = calculate_price(25000)</a:t>
            </a:r>
            <a:pPr indent="0" marL="0">
              <a:lnSpc>
                <a:spcPct val="115000"/>
              </a:lnSpc>
              <a:buNone/>
            </a:pPr>
            <a:endParaRPr lang="en-US" sz="10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f'원가:{base}원, 세금:{vat}원 -&gt; 최종:{final_price}원'</a:t>
            </a:r>
            <a:pPr indent="0" marL="0">
              <a:lnSpc>
                <a:spcPct val="115000"/>
              </a:lnSpc>
              <a:buNone/>
            </a:pPr>
            <a:r>
              <a:rPr lang="en-US" sz="10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3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21538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원가:25000원, 세금:2500.0원 -&gt; 최종:27500.0원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읽기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def 이름(입력들):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안쪽은 들여쓰기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tax_rate=0.1 은 기본값 — 안 주면 0.1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정의만 해선 안 돌아간다. 이름(값) 으로 '불러야' 실행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— 계산 결과를 밖으로 보낸다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3648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grade(score):</a:t>
            </a:r>
            <a:pPr indent="0" marL="0">
              <a:lnSpc>
                <a:spcPct val="115000"/>
              </a:lnSpc>
              <a:buNone/>
            </a:pPr>
            <a:endParaRPr lang="en-US" sz="85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85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5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endParaRPr lang="en-US" sz="85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5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위 return 에서 끝났으면 여기 안 옴</a:t>
            </a:r>
            <a:pPr indent="0" marL="0">
              <a:lnSpc>
                <a:spcPct val="115000"/>
              </a:lnSpc>
              <a:buNone/>
            </a:pPr>
            <a:endParaRPr lang="en-US" sz="852" dirty="0"/>
          </a:p>
          <a:p>
            <a:pPr indent="0" marL="0">
              <a:lnSpc>
                <a:spcPct val="115000"/>
              </a:lnSpc>
              <a:buNone/>
            </a:pPr>
            <a:endParaRPr lang="en-US" sz="85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5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(grade(95), grade(70))</a:t>
            </a:r>
            <a:endParaRPr lang="en-US" sz="852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496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481328"/>
            <a:ext cx="3648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grade_bad(score):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이 없다!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(grade_bad(95))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352044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38496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462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을 만나는 순간 함수는 끝난다 · return 이 없으면 None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값 돌려주기와 받기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stats(nums):</a:t>
            </a:r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min(nums), max(nums), </a:t>
            </a:r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(nums) / </a:t>
            </a:r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(nums)</a:t>
            </a:r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hi, avg = stats([80, 90, 75])   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세 칸으로 받기</a:t>
            </a:r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(lo, hi, avg)</a:t>
            </a:r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stats([80, 90, 75])        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튜플로 받기</a:t>
            </a:r>
            <a:pPr indent="0" marL="0">
              <a:lnSpc>
                <a:spcPct val="115000"/>
              </a:lnSpc>
              <a:buNone/>
            </a:pPr>
            <a:endParaRPr lang="en-US" sz="113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3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3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(result, result[2])</a:t>
            </a:r>
            <a:endParaRPr lang="en-US" sz="1137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169664"/>
            <a:ext cx="4791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75 90 81.66666666666667</a:t>
            </a: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(75, 90, 81.66666666666667) 81.66666666666667</a:t>
            </a:r>
            <a:endParaRPr lang="en-US" sz="887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return a, b, c 는 튜플 하나를 돌려준다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받는 쪽 변수 개수를 맞추면 한 번에 풀린다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개수가 다르면 ValueError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9차시 앱 코드의 base, vat, final_price 가 이 형태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apply 로 열 전체에 적용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[95, 82, 67]})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to_tier(score):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'CHALLENGER'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'GOLD'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'BRONZE'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'tier'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].apply(to_tier)</a:t>
            </a:r>
            <a:pPr indent="0" marL="0">
              <a:lnSpc>
                <a:spcPct val="115000"/>
              </a:lnSpc>
              <a:buNone/>
            </a:pPr>
            <a:endParaRPr lang="en-US" sz="139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</a:t>
            </a:r>
            <a:endParaRPr lang="en-US" sz="1394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71032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71032" y="1700784"/>
            <a:ext cx="2551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score        tier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95  CHALLENGER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82        GOLD</a:t>
            </a:r>
            <a:endParaRPr lang="en-US" sz="114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4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67      BRONZE</a:t>
            </a:r>
            <a:endParaRPr lang="en-US" sz="1141" dirty="0"/>
          </a:p>
        </p:txBody>
      </p:sp>
      <p:sp>
        <p:nvSpPr>
          <p:cNvPr id="9" name="Shape 7"/>
          <p:cNvSpPr/>
          <p:nvPr/>
        </p:nvSpPr>
        <p:spPr>
          <a:xfrm>
            <a:off x="5806440" y="2880360"/>
            <a:ext cx="2880360" cy="1783080"/>
          </a:xfrm>
          <a:prstGeom prst="roundRect">
            <a:avLst>
              <a:gd name="adj" fmla="val 512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+ 9차시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if-elif-else 로 판정하던 걸 함수로 싸서 apply 에 넘긴다. 실기 파생변수 문제의 정석.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대신 print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는 화면에 보여줄 뿐 값을 돌려주지 않는다. apply 에 쓰면 열이 None 으로 찬다.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정의만 하고 안 부름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만 쓰면 아무 일도 안 일어난다. 이름(값) 으로 호출해야 실행.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빼먹기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df['score'].apply(to_tier()) 처럼 괄호를 붙이면 결과값을 넘기게 됨. 함수 이름만 넘긴다.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f(x):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* 2)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화면에만 나옴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f(3)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(v)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9차시 (10분) · 확인 퀴즈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「def &amp; return 커스텀 계산기 조립」 버튼 → calculate_price 함수 정의와 호출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원가(10000·25000·50000)와 세율(0.05~0.20)을 고르고 「파라미터 적용」. 최종 금액을 먼저 암산한다 (원가 × (1+세율)).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원가 + 세금 = 최종 결제액 막대. 암산과 같은지, 세율을 바꾸면 세금 막대만 변하는지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 x = 1  →  print(f()) 의 출력은?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None — return 이 없다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a, b 를 받을 때 변수는 몇 개?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2개 (또는 튜플 하나로)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로 규칙을 만들고, return 으로 값을 돌려준다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이름(입력, 기본값=…): — 정의. 호출해야 실행된다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값 — 함수를 끝내고 값을 돌려준다. 없으면 None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a, b, c — 튜플. 받는 변수 개수를 맞춘다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df['열'].apply(내함수) — 괄호 없이 이름만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10차시 np.array() vs reshape() — 넘파이 배열과 차원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넘파이 배열 생성과 차원 변경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리스트는 AI 가 읽기엔 느리다 — 넘파이로 행렬을 만들고 reshape 으로 모양을 바꾼다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입력은 2차원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sklearn 의 fit(X, y) 는 X 가 (행, 열) 2차원이어야 한다. 1차원이면 에러.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reshape(-1, 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열이 하나뿐인 데이터를 2차원으로 — X.values.reshape(-1, 1). 실기 빈출 정답 한 줄.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ValueError: Expected 2D array, got 1D array instead — 에러 메시지에 답이 있다. reshape(-1, 1) 로 차원을 맞춘다. 6개를 (4, 2) 로 바꾸려 하면 개수가 안 맞아 또 에러.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np.array() — 리스트를 넘파이 배열로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2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pPr indent="0" marL="0">
              <a:lnSpc>
                <a:spcPct val="115000"/>
              </a:lnSpc>
              <a:buNone/>
            </a:pPr>
            <a:r>
              <a:rPr lang="en-US" sz="142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</a:t>
            </a:r>
            <a:pPr indent="0" marL="0">
              <a:lnSpc>
                <a:spcPct val="115000"/>
              </a:lnSpc>
              <a:buNone/>
            </a:pPr>
            <a:endParaRPr lang="en-US" sz="14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arr1d = np.array([10, 20, 30, 40, 50, 60])</a:t>
            </a:r>
            <a:pPr indent="0" marL="0">
              <a:lnSpc>
                <a:spcPct val="115000"/>
              </a:lnSpc>
              <a:buNone/>
            </a:pPr>
            <a:endParaRPr lang="en-US" sz="14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(arr1d)</a:t>
            </a:r>
            <a:pPr indent="0" marL="0">
              <a:lnSpc>
                <a:spcPct val="115000"/>
              </a:lnSpc>
              <a:buNone/>
            </a:pPr>
            <a:endParaRPr lang="en-US" sz="14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(arr1d.shape)      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(6,)  ← 1차원, 6개</a:t>
            </a:r>
            <a:pPr indent="0" marL="0">
              <a:lnSpc>
                <a:spcPct val="115000"/>
              </a:lnSpc>
              <a:buNone/>
            </a:pPr>
            <a:endParaRPr lang="en-US" sz="142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(arr1d * 2)        </a:t>
            </a:r>
            <a:pPr indent="0" marL="0">
              <a:lnSpc>
                <a:spcPct val="115000"/>
              </a:lnSpc>
              <a:buNone/>
            </a:pPr>
            <a:r>
              <a:rPr lang="en-US" sz="14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전체에 한 번에 계산</a:t>
            </a:r>
            <a:endParaRPr lang="en-US" sz="1424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75818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 20 30 40 50 60]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(6,)</a:t>
            </a:r>
            <a:endParaRPr lang="en-US" sz="126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[ 20  40  60  80 100 120]</a:t>
            </a:r>
            <a:endParaRPr lang="en-US" sz="1268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import numpy as np 가 첫 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리스트와 달리 * 2 가 원소마다 적용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shape 는 (행, 열) 모양. (6,) 는 1차원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 [1,2] * 2 는 [1,2,1,2] 였다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reshape() — 개수는 그대로, 모양만 바꾼다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arr1d.reshape(2, 3)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'1차원 원본 shape:'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arr1d.shape)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'변환된 2차원 shape:'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matrix.shape)</a:t>
            </a:r>
            <a:pPr indent="0" marL="0">
              <a:lnSpc>
                <a:spcPct val="115000"/>
              </a:lnSpc>
              <a:buNone/>
            </a:pPr>
            <a:endParaRPr lang="en-US" sz="151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15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1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(matrix)</a:t>
            </a:r>
            <a:endParaRPr lang="en-US" sz="1515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227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83864"/>
            <a:ext cx="47914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1차원 원본 shape: (6,)</a:t>
            </a:r>
            <a:endParaRPr lang="en-US" sz="133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변환된 2차원 shape: (2, 3)</a:t>
            </a:r>
            <a:endParaRPr lang="en-US" sz="133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[[10 20 30]</a:t>
            </a:r>
            <a:endParaRPr lang="en-US" sz="133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[40 50 60]]</a:t>
            </a:r>
            <a:endParaRPr lang="en-US" sz="133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 × 3 = 6 — 곱이 원래 개수와 같아야 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(3, 2) (6, 1) (1, 6) 전부 가능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(4, 2) 는 8개라 에러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-1 을 쓰면 '알아서 계산해' — reshape(-1, 1) 은 (6, 1)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여섯 개, 네 가지 모양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(2, 3)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029968"/>
            <a:ext cx="1362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[[10 20 30]</a:t>
            </a:r>
            <a:pPr indent="0" marL="0">
              <a:lnSpc>
                <a:spcPct val="115000"/>
              </a:lnSpc>
              <a:buNone/>
            </a:pPr>
            <a:endParaRPr lang="en-US" sz="14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[40 50 60]]</a:t>
            </a:r>
            <a:endParaRPr lang="en-US" sz="1426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66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2행 3열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3716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(3, 2)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31720" y="19202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96312" y="2029968"/>
            <a:ext cx="1362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[[10 20]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[30 40]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[50 60]]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566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3행 2열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169164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(6, 1)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19202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2029968"/>
            <a:ext cx="1362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[[10]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[20]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[60]]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3566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6행 1열 — 모델 입력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2697480" cy="45720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80760" y="19202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5352" y="2029968"/>
            <a:ext cx="23682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[[10 20 30 40 50 60]]</a:t>
            </a:r>
            <a:endParaRPr lang="en-US" sz="1433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3566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 6열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187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실기에서 쓰는 건 거의 (6, 1) — 열 하나짜리 2차원. reshape(-1, 1) 로 만든다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 안 맞는 reshape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6개를 (4, 2) 로 → ValueError: cannot reshape array of size 6 into shape (4,2). 곱을 먼저 확인.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리스트에 reshape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[1, 2, 3].reshape(3, 1) → AttributeError. np.array 로 먼저 바꾼다.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에 괄호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arr.shape() 는 에러. shape 는 함수가 아니라 속성 — 괄호 없이 arr.shape.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np.array([1, 2, 3])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(X.shape)           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(X.reshape(-1, 1).shape)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 1)  ← 모델에 넣을 모양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fit 에러 한 줄로 해결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</a:t>
            </a:r>
            <a:pPr indent="0" marL="0">
              <a:lnSpc>
                <a:spcPct val="115000"/>
              </a:lnSpc>
              <a:buNone/>
            </a:pPr>
            <a:r>
              <a:rPr lang="en-US" sz="99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LinearRegression</a:t>
            </a:r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'hours'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].values          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(100,)  1차원</a:t>
            </a:r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].values</a:t>
            </a:r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model.fit(X, y)              # ValueError: Expected 2D array</a:t>
            </a:r>
            <a:pPr indent="0" marL="0">
              <a:lnSpc>
                <a:spcPct val="115000"/>
              </a:lnSpc>
              <a:buNone/>
            </a:pPr>
            <a:endParaRPr lang="en-US" sz="99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model.fit(X.reshape(-1, 1), y)  </a:t>
            </a:r>
            <a:pPr indent="0" marL="0">
              <a:lnSpc>
                <a:spcPct val="115000"/>
              </a:lnSpc>
              <a:buNone/>
            </a:pPr>
            <a:r>
              <a:rPr lang="en-US" sz="99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  (100, 1)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2651760"/>
          </a:xfrm>
          <a:prstGeom prst="roundRect">
            <a:avLst>
              <a:gd name="adj" fmla="val 344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-1 인가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수는 데이터마다 다르니 '알아서' 하라고 -1. 열은 1 로 고정.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39차시 선형회귀에서 이 줄이 그대로 나온다.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메시지에 'Expected 2D array' 가 보이면 생각할 것 없이 reshape(-1, 1).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10차시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「넘파이 행렬 및 reshape 조립」 버튼 → 6개짜리 배열을 2차원으로 바꾸는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변환할 구조((2,3)·(3,2)·(6,1)·(1,6))를 고르고 「파라미터 적용」. 행렬이 몇 행 몇 열로 찍힐지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행 × 열 구조 차트. (6,1) 을 골라 세로로 긴 모양이 '모델 입력' 모양임을 확인.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np.array([1,2,3,4]).reshape(2, 2).shape 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(2, 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6개를 reshape(4, 2) 하면?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ValueError — 4×2=8 ≠ 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np.array 로 배열, reshape 으로 모양 — 개수는 그대로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np.array(리스트) — 원소마다 계산되는 배열. shape 로 모양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reshape(행, 열) — 행 × 열 = 원래 개수. -1 은 자동 계산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입력은 2차원 — 1차원이면 reshape(-1, 1)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끝. 다음은 판다스로 진짜 데이터를 다룬다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Part 2. 판다스 &amp; 정제 — 11차시 CSV 파일 로드와 결과 저장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2026-09-23T01:21:18Z</dcterms:created>
  <dcterms:modified xsi:type="dcterms:W3CDTF">2026-09-23T01:21:18Z</dcterms:modified>
</cp:coreProperties>
</file>