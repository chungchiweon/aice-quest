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13차시 info 로 '어느 열' 인지 봤다면, 오늘은 '몇 개' 인지. isna().sum() 한 줄이 전부.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dropna() 를 옵션 없이 쓰면 안 되는 이유를 숫자로 보여 준다. subset 이 오늘의 핵심.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df['나이'] = df['나이'].fillna(df['나이'].mean()) — 이 한 줄을 외우게 하는 게 목표. 평균 vs 중앙값 선택 기준은 이상치.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axis=1 을 빼면 행이 날아간다 — 이 대참사 하나만 막으면 된다. columns= 를 쓰면 axis 를 안 써도 된다는 것도.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2차시 int/float 의 판다스 버전. 13차시 info 에서 object 였던 숫자 열을 오늘 고친다. Part 2 전반부 마무리.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AICE 어소시에이트 실기 · Part 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판다스 2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16~20차시 · 결측치 찾기 · 지우기 · 채우기 · 열 정리 · 형변환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31821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16차시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3438144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df.isna()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df.notna()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57984" y="310896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67712" y="31821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17차시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267712" y="3438144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71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df.dropna()</a:t>
            </a:r>
            <a:endParaRPr lang="en-US" sz="1071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71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subset=['col']</a:t>
            </a:r>
            <a:endParaRPr lang="en-US" sz="1071" dirty="0"/>
          </a:p>
        </p:txBody>
      </p:sp>
      <p:sp>
        <p:nvSpPr>
          <p:cNvPr id="11" name="Shape 9"/>
          <p:cNvSpPr/>
          <p:nvPr/>
        </p:nvSpPr>
        <p:spPr>
          <a:xfrm>
            <a:off x="3767328" y="310896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77056" y="31821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18차시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877056" y="3438144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8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df.fillna()</a:t>
            </a:r>
            <a:endParaRPr lang="en-US" sz="882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mean() / median()</a:t>
            </a:r>
            <a:endParaRPr lang="en-US" sz="882" dirty="0"/>
          </a:p>
        </p:txBody>
      </p:sp>
      <p:sp>
        <p:nvSpPr>
          <p:cNvPr id="14" name="Shape 12"/>
          <p:cNvSpPr/>
          <p:nvPr/>
        </p:nvSpPr>
        <p:spPr>
          <a:xfrm>
            <a:off x="5376672" y="310896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0" y="31821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19차시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0" y="3438144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df.drop(axis=1)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df.rename()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86016" y="310896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95744" y="31821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20차시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095744" y="3438144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3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df.astype()</a:t>
            </a:r>
            <a:endParaRPr lang="en-US" sz="938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3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pd.to_datetime()</a:t>
            </a:r>
            <a:endParaRPr lang="en-US" sz="938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흥해공고 · 강사 정지원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판다스 2 — 다섯 차시 한눈에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47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2588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16차시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3258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결측치(구멍) 탐색과 총합 집계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3258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df.isna()  ·  df.notna()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13258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isna().sum() 족보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984248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1984248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17차시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198424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구멍 난 행 통째로 삭제하기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198424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df.dropna()  ·  subset=['col']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198424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 열 결측 삭제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642616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642616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18차시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264261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결측치 채우기 (평균값 vs 중앙값)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264261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df.fillna()  ·  mean() / median()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264261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 암기 코드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300984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300984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19차시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330098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불필요한 열 삭제와 컬럼명 변경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330098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df.drop(axis=1)  ·  df.rename()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0" y="330098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axis=1 필수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959352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3959352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20차시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395935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타입 강제 형변환과 무결성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754880" y="395935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df.astype()  ·  pd.to_datetime()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0" y="395935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입력 에러 방지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차시마다: 개념 두 개 → 비교 → 흔한 실수 → 실기 패턴 → 앱 실습(10분) → 퀴즈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16차시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결측치(구멍) 탐색과 총합 집계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구멍(NaN)이 있으면 모델은 즉사한다 — isna 로 형광펜, .sum() 으로 개수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df.isna()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1188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df.notna()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47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배우면 AICE에서 이렇게 쓴다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결측치 개수 세기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df.isna().sum() — 열마다 구멍이 몇 개인지 한 줄. 삭제할지 채울지는 이 숫자를 보고 정한다.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데이터 개수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df['열'].notna().sum() — 반대로 멀쩡한 게 몇 개인지. 둘을 더하면 행 수.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1821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막을 사고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5661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결측치를 모른 채 fit 하면 'Input contains NaN' 으로 모델이 멈춘다. 17차시(삭제)·18차시(채우기) 어느 쪽이든, 오늘 세는 게 먼저다.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47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df.isna() — 구멍이면 True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1645920"/>
          </a:xfrm>
          <a:prstGeom prst="roundRect">
            <a:avLst>
              <a:gd name="adj" fmla="val 4444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8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5000"/>
              </a:lnSpc>
              <a:buNone/>
            </a:pPr>
            <a:r>
              <a:rPr lang="en-US" sz="108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numpy </a:t>
            </a:r>
            <a:pPr indent="0" marL="0">
              <a:lnSpc>
                <a:spcPct val="115000"/>
              </a:lnSpc>
              <a:buNone/>
            </a:pPr>
            <a:r>
              <a:rPr lang="en-US" sz="1088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15000"/>
              </a:lnSpc>
              <a:buNone/>
            </a:pPr>
            <a:r>
              <a:rPr lang="en-US" sz="108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np</a:t>
            </a:r>
            <a:pPr indent="0" marL="0">
              <a:lnSpc>
                <a:spcPct val="115000"/>
              </a:lnSpc>
              <a:buNone/>
            </a:pPr>
            <a:endParaRPr lang="en-US" sz="108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8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pd.DataFrame({</a:t>
            </a:r>
            <a:pPr indent="0" marL="0">
              <a:lnSpc>
                <a:spcPct val="115000"/>
              </a:lnSpc>
              <a:buNone/>
            </a:pPr>
            <a:r>
              <a:rPr lang="en-US" sz="1088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'나이'</a:t>
            </a:r>
            <a:pPr indent="0" marL="0">
              <a:lnSpc>
                <a:spcPct val="115000"/>
              </a:lnSpc>
              <a:buNone/>
            </a:pPr>
            <a:r>
              <a:rPr lang="en-US" sz="108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[23, np.nan, 31, 27, np.nan],</a:t>
            </a:r>
            <a:pPr indent="0" marL="0">
              <a:lnSpc>
                <a:spcPct val="115000"/>
              </a:lnSpc>
              <a:buNone/>
            </a:pPr>
            <a:endParaRPr lang="en-US" sz="108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8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</a:t>
            </a:r>
            <a:pPr indent="0" marL="0">
              <a:lnSpc>
                <a:spcPct val="115000"/>
              </a:lnSpc>
              <a:buNone/>
            </a:pPr>
            <a:r>
              <a:rPr lang="en-US" sz="1088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'소득'</a:t>
            </a:r>
            <a:pPr indent="0" marL="0">
              <a:lnSpc>
                <a:spcPct val="115000"/>
              </a:lnSpc>
              <a:buNone/>
            </a:pPr>
            <a:r>
              <a:rPr lang="en-US" sz="108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[300, 280, np.nan, 350, 310]})</a:t>
            </a:r>
            <a:pPr indent="0" marL="0">
              <a:lnSpc>
                <a:spcPct val="115000"/>
              </a:lnSpc>
              <a:buNone/>
            </a:pPr>
            <a:endParaRPr lang="en-US" sz="108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88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08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(df.isna())</a:t>
            </a:r>
            <a:endParaRPr lang="en-US" sz="1088" dirty="0"/>
          </a:p>
        </p:txBody>
      </p:sp>
      <p:sp>
        <p:nvSpPr>
          <p:cNvPr id="6" name="Shape 4"/>
          <p:cNvSpPr/>
          <p:nvPr/>
        </p:nvSpPr>
        <p:spPr>
          <a:xfrm>
            <a:off x="457200" y="315468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2278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483864"/>
            <a:ext cx="47914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나이     소득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False  False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True  False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False   True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False  False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 True  False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NaN = Not a Number, 빈칸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isna() 는 같은 모양의 True/False 표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True 는 1 이라서 더할 수 있다 → 다음 장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isnull() 은 완전히 같은 함수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47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.sum() 을 붙이면 개수가 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45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24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(df.isna().</a:t>
            </a:r>
            <a:pPr indent="0" marL="0">
              <a:lnSpc>
                <a:spcPct val="115000"/>
              </a:lnSpc>
              <a:buNone/>
            </a:pPr>
            <a:r>
              <a:rPr lang="en-US" sz="1245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lnSpc>
                <a:spcPct val="115000"/>
              </a:lnSpc>
              <a:buNone/>
            </a:pPr>
            <a:r>
              <a:rPr lang="en-US" sz="124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          </a:t>
            </a:r>
            <a:pPr indent="0" marL="0">
              <a:lnSpc>
                <a:spcPct val="115000"/>
              </a:lnSpc>
              <a:buNone/>
            </a:pPr>
            <a:r>
              <a:rPr lang="en-US" sz="124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열별 결측 개수</a:t>
            </a:r>
            <a:pPr indent="0" marL="0">
              <a:lnSpc>
                <a:spcPct val="115000"/>
              </a:lnSpc>
              <a:buNone/>
            </a:pPr>
            <a:endParaRPr lang="en-US" sz="124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45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24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(df.isna().</a:t>
            </a:r>
            <a:pPr indent="0" marL="0">
              <a:lnSpc>
                <a:spcPct val="115000"/>
              </a:lnSpc>
              <a:buNone/>
            </a:pPr>
            <a:r>
              <a:rPr lang="en-US" sz="1245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lnSpc>
                <a:spcPct val="115000"/>
              </a:lnSpc>
              <a:buNone/>
            </a:pPr>
            <a:r>
              <a:rPr lang="en-US" sz="124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pPr indent="0" marL="0">
              <a:lnSpc>
                <a:spcPct val="115000"/>
              </a:lnSpc>
              <a:buNone/>
            </a:pPr>
            <a:r>
              <a:rPr lang="en-US" sz="1245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lnSpc>
                <a:spcPct val="115000"/>
              </a:lnSpc>
              <a:buNone/>
            </a:pPr>
            <a:r>
              <a:rPr lang="en-US" sz="124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    </a:t>
            </a:r>
            <a:pPr indent="0" marL="0">
              <a:lnSpc>
                <a:spcPct val="115000"/>
              </a:lnSpc>
              <a:buNone/>
            </a:pPr>
            <a:r>
              <a:rPr lang="en-US" sz="124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전체 결측 개수</a:t>
            </a:r>
            <a:pPr indent="0" marL="0">
              <a:lnSpc>
                <a:spcPct val="115000"/>
              </a:lnSpc>
              <a:buNone/>
            </a:pPr>
            <a:endParaRPr lang="en-US" sz="124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45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24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(df[</a:t>
            </a:r>
            <a:pPr indent="0" marL="0">
              <a:lnSpc>
                <a:spcPct val="115000"/>
              </a:lnSpc>
              <a:buNone/>
            </a:pPr>
            <a:r>
              <a:rPr lang="en-US" sz="1245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'나이'</a:t>
            </a:r>
            <a:pPr indent="0" marL="0">
              <a:lnSpc>
                <a:spcPct val="115000"/>
              </a:lnSpc>
              <a:buNone/>
            </a:pPr>
            <a:r>
              <a:rPr lang="en-US" sz="124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].notna().</a:t>
            </a:r>
            <a:pPr indent="0" marL="0">
              <a:lnSpc>
                <a:spcPct val="115000"/>
              </a:lnSpc>
              <a:buNone/>
            </a:pPr>
            <a:r>
              <a:rPr lang="en-US" sz="1245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lnSpc>
                <a:spcPct val="115000"/>
              </a:lnSpc>
              <a:buNone/>
            </a:pPr>
            <a:r>
              <a:rPr lang="en-US" sz="124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  </a:t>
            </a:r>
            <a:pPr indent="0" marL="0">
              <a:lnSpc>
                <a:spcPct val="115000"/>
              </a:lnSpc>
              <a:buNone/>
            </a:pPr>
            <a:r>
              <a:rPr lang="en-US" sz="124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나이 열 정상 개수</a:t>
            </a:r>
            <a:endParaRPr lang="en-US" sz="1245" dirty="0"/>
          </a:p>
        </p:txBody>
      </p:sp>
      <p:sp>
        <p:nvSpPr>
          <p:cNvPr id="6" name="Shape 4"/>
          <p:cNvSpPr/>
          <p:nvPr/>
        </p:nvSpPr>
        <p:spPr>
          <a:xfrm>
            <a:off x="457200" y="297180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044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300984"/>
            <a:ext cx="479145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18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나이    2</a:t>
            </a:r>
            <a:endParaRPr lang="en-US" sz="131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18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소득    1</a:t>
            </a:r>
            <a:endParaRPr lang="en-US" sz="131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18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dtype: int64</a:t>
            </a:r>
            <a:endParaRPr lang="en-US" sz="131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18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1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18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18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True 를 1 로 세니 sum 이 곧 개수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.sum() 한 번 = 열별, 두 번 = 전체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notna() 는 반대 — 정상 개수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isna().sum() + notna().sum() = 행 수 (5)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47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 비율 — 삭제할지 채울지 정하는 기준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6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ratio = df.isna().mean()        </a:t>
            </a:r>
            <a:pPr indent="0" marL="0">
              <a:lnSpc>
                <a:spcPct val="115000"/>
              </a:lnSpc>
              <a:buNone/>
            </a:pPr>
            <a:r>
              <a:rPr lang="en-US" sz="136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 의 비율</a:t>
            </a:r>
            <a:pPr indent="0" marL="0">
              <a:lnSpc>
                <a:spcPct val="115000"/>
              </a:lnSpc>
              <a:buNone/>
            </a:pPr>
            <a:endParaRPr lang="en-US" sz="136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6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36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(ratio)</a:t>
            </a:r>
            <a:pPr indent="0" marL="0">
              <a:lnSpc>
                <a:spcPct val="115000"/>
              </a:lnSpc>
              <a:buNone/>
            </a:pPr>
            <a:endParaRPr lang="en-US" sz="136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6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36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((ratio * 100).round(1))    </a:t>
            </a:r>
            <a:pPr indent="0" marL="0">
              <a:lnSpc>
                <a:spcPct val="115000"/>
              </a:lnSpc>
              <a:buNone/>
            </a:pPr>
            <a:r>
              <a:rPr lang="en-US" sz="136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퍼센트로</a:t>
            </a:r>
            <a:endParaRPr lang="en-US" sz="1361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2862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118104"/>
            <a:ext cx="47914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1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나이    0.4</a:t>
            </a:r>
            <a:endParaRPr lang="en-US" sz="81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1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소득    0.2</a:t>
            </a:r>
            <a:endParaRPr lang="en-US" sz="81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1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dtype: float64</a:t>
            </a:r>
            <a:endParaRPr lang="en-US" sz="81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1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나이    40.0</a:t>
            </a:r>
            <a:endParaRPr lang="en-US" sz="81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1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소득    20.0</a:t>
            </a:r>
            <a:endParaRPr lang="en-US" sz="811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2697480"/>
          </a:xfrm>
          <a:prstGeom prst="roundRect">
            <a:avLst>
              <a:gd name="adj" fmla="val 339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대략의 기준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몇 % 이하 → 행을 지워도 됨 (17차시)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수십 % → 채운다 (18차시)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절반 넘음 → 열 자체를 버린다 (19차시)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시험은 문제가 방법을 정해 준다.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mean() 은 True 의 평균 = 비율. 앱 16차시 '백분율' 옵션이 이것이다.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47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실수 3가지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== None 으로 비교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df['나이'] == None 은 전부 False. NaN 은 == 로 못 찾는다. 반드시 isna().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 안 붙이고 보기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df.isna() 만 찍으면 True/False 표가 수천 행. 개수를 보려면 .sum().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문자열은 결측이 아님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'' 나 ' ' 는 NaN 이 아니라 글자다. isna 에 안 잡힌다. replace('', np.nan) 으로 바꿔야 한다.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1554480"/>
          </a:xfrm>
          <a:prstGeom prst="roundRect">
            <a:avLst>
              <a:gd name="adj" fmla="val 470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218688"/>
            <a:ext cx="790041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'나이'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].isna()        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맞음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'나이'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== np.nan      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틀림 — 전부 False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'나이'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==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틀림 — 전부 False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47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AICE 실기 패턴 — 결측 열 목록 뽑기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2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 = df.isna().</a:t>
            </a:r>
            <a:pPr indent="0" marL="0">
              <a:lnSpc>
                <a:spcPct val="115000"/>
              </a:lnSpc>
              <a:buNone/>
            </a:pPr>
            <a:r>
              <a:rPr lang="en-US" sz="1126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lnSpc>
                <a:spcPct val="115000"/>
              </a:lnSpc>
              <a:buNone/>
            </a:pPr>
            <a:r>
              <a:rPr lang="en-US" sz="112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lnSpc>
                <a:spcPct val="115000"/>
              </a:lnSpc>
              <a:buNone/>
            </a:pPr>
            <a:endParaRPr lang="en-US" sz="112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2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 = missing[missing &gt; 0]          </a:t>
            </a:r>
            <a:pPr indent="0" marL="0">
              <a:lnSpc>
                <a:spcPct val="115000"/>
              </a:lnSpc>
              <a:buNone/>
            </a:pPr>
            <a:r>
              <a:rPr lang="en-US" sz="1126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 인 열은 빼고</a:t>
            </a:r>
            <a:pPr indent="0" marL="0">
              <a:lnSpc>
                <a:spcPct val="115000"/>
              </a:lnSpc>
              <a:buNone/>
            </a:pPr>
            <a:endParaRPr lang="en-US" sz="112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26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12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(missing.sort_values(ascending=</a:t>
            </a:r>
            <a:pPr indent="0" marL="0">
              <a:lnSpc>
                <a:spcPct val="115000"/>
              </a:lnSpc>
              <a:buNone/>
            </a:pPr>
            <a:r>
              <a:rPr lang="en-US" sz="1126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115000"/>
              </a:lnSpc>
              <a:buNone/>
            </a:pPr>
            <a:r>
              <a:rPr lang="en-US" sz="112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pPr indent="0" marL="0">
              <a:lnSpc>
                <a:spcPct val="115000"/>
              </a:lnSpc>
              <a:buNone/>
            </a:pPr>
            <a:endParaRPr lang="en-US" sz="1126" dirty="0"/>
          </a:p>
          <a:p>
            <a:pPr indent="0" marL="0">
              <a:lnSpc>
                <a:spcPct val="115000"/>
              </a:lnSpc>
              <a:buNone/>
            </a:pPr>
            <a:endParaRPr lang="en-US" sz="112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2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cols_to_fix = missing.index.tolist()</a:t>
            </a:r>
            <a:pPr indent="0" marL="0">
              <a:lnSpc>
                <a:spcPct val="115000"/>
              </a:lnSpc>
              <a:buNone/>
            </a:pPr>
            <a:endParaRPr lang="en-US" sz="112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26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12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2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'처리할 열:'</a:t>
            </a:r>
            <a:pPr indent="0" marL="0">
              <a:lnSpc>
                <a:spcPct val="115000"/>
              </a:lnSpc>
              <a:buNone/>
            </a:pPr>
            <a:r>
              <a:rPr lang="en-US" sz="112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cols_to_fix)</a:t>
            </a:r>
            <a:endParaRPr lang="en-US" sz="1126" dirty="0"/>
          </a:p>
        </p:txBody>
      </p:sp>
      <p:sp>
        <p:nvSpPr>
          <p:cNvPr id="6" name="Shape 4"/>
          <p:cNvSpPr/>
          <p:nvPr/>
        </p:nvSpPr>
        <p:spPr>
          <a:xfrm>
            <a:off x="457200" y="361188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685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941064"/>
            <a:ext cx="47914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6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나이    2</a:t>
            </a:r>
            <a:endParaRPr lang="en-US" sz="76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6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소득    1</a:t>
            </a:r>
            <a:endParaRPr lang="en-US" sz="76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6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dtype: int64</a:t>
            </a:r>
            <a:endParaRPr lang="en-US" sz="76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6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처리할 열: ['나이', '소득']</a:t>
            </a:r>
            <a:endParaRPr lang="en-US" sz="761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목록으로 뽑나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18차시에서 for col in cols_to_fix: 로 돌며 채운다. 열이 30개여도 결측 있는 열만 골라 처리하니 코드가 짧아진다.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47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— 앱 16차시 (10분) · 확인 퀴즈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코드 소환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「isna &amp; notna 결측치 스캔 조립」 버튼 → 열별 결측 총합과 타깃 열 정상 개수를 찍는 코드가 나타난다.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파라미터 적용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 열(나이 45·소득 80·플레이시간 20)과 집계 방식(개수·백분율)을 고르고 「파라미터 적용」. 행이 1000이면 소득의 결측 비율이 몇 % 인지 먼저 말한다 (8%).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실행 · 차트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「파이프라인 실행」 → 열별 결측 수량 막대. 가장 큰 열을 17·18차시에서 어떻게 할지 짝과 정해 본다.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df.isna().sum().sum() 은 무엇을 세나?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4472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표 전체의 결측치 개수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977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NaN 을 == 로 찾을 수 있나?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270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없다 — isna() 로 찾는다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47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16차시 정리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isna 로 찾고 sum 으로 센다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691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df.isna() — 구멍이면 True 인 같은 모양의 표. == 로는 못 찾는다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377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df.isna().sum() — 열별 개수, .sum().sum() — 전체, .mean() — 비율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0632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notna() 는 반대. 둘을 더하면 행 수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749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실기 패턴: missing[missing &gt; 0].index 로 처리할 열 목록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→ 17차시 dropna() — 구멍 난 행 지우기, 단 subset 으로 정밀하게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47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17차시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구멍 난 행 통째로 삭제하기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구멍 난 줄은 버린다 — 단, 아무 생각 없이 다 버리면 데이터가 반토막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df.dropna()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1188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91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subset=['col']</a:t>
            </a:r>
            <a:endParaRPr lang="en-US" sz="1991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47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배우면 AICE에서 이렇게 쓴다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정답(타깃) 열 결측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정답이 없는 행은 학습에 못 쓴다. df.dropna(subset=['승패']) 로 그 행만 지운다.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결측이 아주 적을 때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1000행 중 3행이면 채우는 것보다 지우는 게 깔끔하다. 16차시 비율을 보고 결정.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1821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막을 사고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5661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df.dropna() 를 옵션 없이 쓰면 '어느 열이든 하나라도 비면' 행을 지운다. 열이 20개면 절반이 사라진다 — 데이터 손실 감점. 반드시 subset 으로 열을 지정한다.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47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df.dropna() — 옵션 없이 쓰면 이렇게 된다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pd.DataFrame({</a:t>
            </a:r>
            <a:pPr indent="0" marL="0">
              <a:lnSpc>
                <a:spcPct val="115000"/>
              </a:lnSpc>
              <a:buNone/>
            </a:pPr>
            <a:r>
              <a:rPr lang="en-US" sz="103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'나이'</a:t>
            </a:r>
            <a:pPr indent="0" marL="0">
              <a:lnSpc>
                <a:spcPct val="115000"/>
              </a:lnSpc>
              <a:buNone/>
            </a:pPr>
            <a:r>
              <a:rPr lang="en-US" sz="103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[23, np.nan, 31, 27, np.nan],</a:t>
            </a:r>
            <a:pPr indent="0" marL="0">
              <a:lnSpc>
                <a:spcPct val="115000"/>
              </a:lnSpc>
              <a:buNone/>
            </a:pPr>
            <a:endParaRPr lang="en-US" sz="103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3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</a:t>
            </a:r>
            <a:pPr indent="0" marL="0">
              <a:lnSpc>
                <a:spcPct val="115000"/>
              </a:lnSpc>
              <a:buNone/>
            </a:pPr>
            <a:r>
              <a:rPr lang="en-US" sz="103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'소득'</a:t>
            </a:r>
            <a:pPr indent="0" marL="0">
              <a:lnSpc>
                <a:spcPct val="115000"/>
              </a:lnSpc>
              <a:buNone/>
            </a:pPr>
            <a:r>
              <a:rPr lang="en-US" sz="103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[300, 280, np.nan, 350, 310],</a:t>
            </a:r>
            <a:pPr indent="0" marL="0">
              <a:lnSpc>
                <a:spcPct val="115000"/>
              </a:lnSpc>
              <a:buNone/>
            </a:pPr>
            <a:endParaRPr lang="en-US" sz="103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3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</a:t>
            </a:r>
            <a:pPr indent="0" marL="0">
              <a:lnSpc>
                <a:spcPct val="115000"/>
              </a:lnSpc>
              <a:buNone/>
            </a:pPr>
            <a:r>
              <a:rPr lang="en-US" sz="103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'승패'</a:t>
            </a:r>
            <a:pPr indent="0" marL="0">
              <a:lnSpc>
                <a:spcPct val="115000"/>
              </a:lnSpc>
              <a:buNone/>
            </a:pPr>
            <a:r>
              <a:rPr lang="en-US" sz="103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pPr indent="0" marL="0">
              <a:lnSpc>
                <a:spcPct val="115000"/>
              </a:lnSpc>
              <a:buNone/>
            </a:pPr>
            <a:r>
              <a:rPr lang="en-US" sz="103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'승'</a:t>
            </a:r>
            <a:pPr indent="0" marL="0">
              <a:lnSpc>
                <a:spcPct val="115000"/>
              </a:lnSpc>
              <a:buNone/>
            </a:pPr>
            <a:r>
              <a:rPr lang="en-US" sz="103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03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'패'</a:t>
            </a:r>
            <a:pPr indent="0" marL="0">
              <a:lnSpc>
                <a:spcPct val="115000"/>
              </a:lnSpc>
              <a:buNone/>
            </a:pPr>
            <a:r>
              <a:rPr lang="en-US" sz="103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03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'승'</a:t>
            </a:r>
            <a:pPr indent="0" marL="0">
              <a:lnSpc>
                <a:spcPct val="115000"/>
              </a:lnSpc>
              <a:buNone/>
            </a:pPr>
            <a:r>
              <a:rPr lang="en-US" sz="103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np.nan, </a:t>
            </a:r>
            <a:pPr indent="0" marL="0">
              <a:lnSpc>
                <a:spcPct val="115000"/>
              </a:lnSpc>
              <a:buNone/>
            </a:pPr>
            <a:r>
              <a:rPr lang="en-US" sz="103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'승'</a:t>
            </a:r>
            <a:pPr indent="0" marL="0">
              <a:lnSpc>
                <a:spcPct val="115000"/>
              </a:lnSpc>
              <a:buNone/>
            </a:pPr>
            <a:r>
              <a:rPr lang="en-US" sz="103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]})</a:t>
            </a:r>
            <a:pPr indent="0" marL="0">
              <a:lnSpc>
                <a:spcPct val="115000"/>
              </a:lnSpc>
              <a:buNone/>
            </a:pPr>
            <a:endParaRPr lang="en-US" sz="103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3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 = df.dropna()</a:t>
            </a:r>
            <a:pPr indent="0" marL="0">
              <a:lnSpc>
                <a:spcPct val="115000"/>
              </a:lnSpc>
              <a:buNone/>
            </a:pPr>
            <a:endParaRPr lang="en-US" sz="103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3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03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03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lnSpc>
                <a:spcPct val="115000"/>
              </a:lnSpc>
              <a:buNone/>
            </a:pPr>
            <a:r>
              <a:rPr lang="en-US" sz="103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(df), </a:t>
            </a:r>
            <a:pPr indent="0" marL="0">
              <a:lnSpc>
                <a:spcPct val="115000"/>
              </a:lnSpc>
              <a:buNone/>
            </a:pPr>
            <a:r>
              <a:rPr lang="en-US" sz="103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'→'</a:t>
            </a:r>
            <a:pPr indent="0" marL="0">
              <a:lnSpc>
                <a:spcPct val="115000"/>
              </a:lnSpc>
              <a:buNone/>
            </a:pPr>
            <a:r>
              <a:rPr lang="en-US" sz="103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03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lnSpc>
                <a:spcPct val="115000"/>
              </a:lnSpc>
              <a:buNone/>
            </a:pPr>
            <a:r>
              <a:rPr lang="en-US" sz="103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(clean))</a:t>
            </a:r>
            <a:pPr indent="0" marL="0">
              <a:lnSpc>
                <a:spcPct val="115000"/>
              </a:lnSpc>
              <a:buNone/>
            </a:pPr>
            <a:endParaRPr lang="en-US" sz="103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3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03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(clean)</a:t>
            </a:r>
            <a:endParaRPr lang="en-US" sz="1037" dirty="0"/>
          </a:p>
        </p:txBody>
      </p:sp>
      <p:sp>
        <p:nvSpPr>
          <p:cNvPr id="6" name="Shape 4"/>
          <p:cNvSpPr/>
          <p:nvPr/>
        </p:nvSpPr>
        <p:spPr>
          <a:xfrm>
            <a:off x="457200" y="361188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685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941064"/>
            <a:ext cx="47914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14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→ 1</a:t>
            </a:r>
            <a:endParaRPr lang="en-US" sz="101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14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나이    소득 승패</a:t>
            </a:r>
            <a:endParaRPr lang="en-US" sz="101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14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23.0  300.0  승</a:t>
            </a:r>
            <a:endParaRPr lang="en-US" sz="1014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줄 중 한 줄만 남았다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행마다 어느 열이든 NaN 이 하나만 있어도 지운다. 실제 데이터에서는 90% 가 날아가기도 한다. 이게 '반토막' 사고.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47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subset=['열'] — 그 열이 빈 행만 지운다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 = df.dropna(subset=[</a:t>
            </a:r>
            <a:pPr indent="0" marL="0">
              <a:lnSpc>
                <a:spcPct val="115000"/>
              </a:lnSpc>
              <a:buNone/>
            </a:pPr>
            <a:r>
              <a:rPr lang="en-US" sz="109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'승패'</a:t>
            </a:r>
            <a:pPr indent="0" marL="0">
              <a:lnSpc>
                <a:spcPct val="115000"/>
              </a:lnSpc>
              <a:buNone/>
            </a:pPr>
            <a:r>
              <a:rPr lang="en-US" sz="10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       </a:t>
            </a:r>
            <a:pPr indent="0" marL="0">
              <a:lnSpc>
                <a:spcPct val="115000"/>
              </a:lnSpc>
              <a:buNone/>
            </a:pPr>
            <a:r>
              <a:rPr lang="en-US" sz="109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정답이 없는 행만</a:t>
            </a:r>
            <a:pPr indent="0" marL="0">
              <a:lnSpc>
                <a:spcPct val="115000"/>
              </a:lnSpc>
              <a:buNone/>
            </a:pPr>
            <a:endParaRPr lang="en-US" sz="109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0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09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lnSpc>
                <a:spcPct val="115000"/>
              </a:lnSpc>
              <a:buNone/>
            </a:pPr>
            <a:r>
              <a:rPr lang="en-US" sz="10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(df), </a:t>
            </a:r>
            <a:pPr indent="0" marL="0">
              <a:lnSpc>
                <a:spcPct val="115000"/>
              </a:lnSpc>
              <a:buNone/>
            </a:pPr>
            <a:r>
              <a:rPr lang="en-US" sz="109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'→'</a:t>
            </a:r>
            <a:pPr indent="0" marL="0">
              <a:lnSpc>
                <a:spcPct val="115000"/>
              </a:lnSpc>
              <a:buNone/>
            </a:pPr>
            <a:r>
              <a:rPr lang="en-US" sz="10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09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lnSpc>
                <a:spcPct val="115000"/>
              </a:lnSpc>
              <a:buNone/>
            </a:pPr>
            <a:r>
              <a:rPr lang="en-US" sz="10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(clean))</a:t>
            </a:r>
            <a:pPr indent="0" marL="0">
              <a:lnSpc>
                <a:spcPct val="115000"/>
              </a:lnSpc>
              <a:buNone/>
            </a:pPr>
            <a:endParaRPr lang="en-US" sz="109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0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(clean)</a:t>
            </a:r>
            <a:endParaRPr lang="en-US" sz="1090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2862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118104"/>
            <a:ext cx="479145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68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→ 4</a:t>
            </a:r>
            <a:endParaRPr lang="en-US" sz="126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68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나이    소득 승패</a:t>
            </a:r>
            <a:endParaRPr lang="en-US" sz="126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68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23.0  300.0  승</a:t>
            </a:r>
            <a:endParaRPr lang="en-US" sz="126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68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NaN  280.0  패</a:t>
            </a:r>
            <a:endParaRPr lang="en-US" sz="126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68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31.0    NaN  승</a:t>
            </a:r>
            <a:endParaRPr lang="en-US" sz="126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68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 NaN  310.0  승</a:t>
            </a:r>
            <a:endParaRPr lang="en-US" sz="1268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subset 은 리스트 — 열 여러 개도 됨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지정한 열 기준으로만 판단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나머지 열의 NaN 은 그대로 남는다 → 18차시에서 채운다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결과는 새 표. 원본은 그대로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47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how='any' vs how='all'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280160"/>
          </a:xfrm>
          <a:prstGeom prst="roundRect">
            <a:avLst>
              <a:gd name="adj" fmla="val 5714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36484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df.dropna(subset=[</a:t>
            </a:r>
            <a:pPr indent="0" marL="0">
              <a:lnSpc>
                <a:spcPct val="115000"/>
              </a:lnSpc>
              <a:buNone/>
            </a:pPr>
            <a:r>
              <a:rPr lang="en-US" sz="103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'나이'</a:t>
            </a:r>
            <a:pPr indent="0" marL="0">
              <a:lnSpc>
                <a:spcPct val="115000"/>
              </a:lnSpc>
              <a:buNone/>
            </a:pPr>
            <a:r>
              <a:rPr lang="en-US" sz="103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03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'소득'</a:t>
            </a:r>
            <a:pPr indent="0" marL="0">
              <a:lnSpc>
                <a:spcPct val="115000"/>
              </a:lnSpc>
              <a:buNone/>
            </a:pPr>
            <a:r>
              <a:rPr lang="en-US" sz="103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how=</a:t>
            </a:r>
            <a:pPr indent="0" marL="0">
              <a:lnSpc>
                <a:spcPct val="115000"/>
              </a:lnSpc>
              <a:buNone/>
            </a:pPr>
            <a:r>
              <a:rPr lang="en-US" sz="103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'any'</a:t>
            </a:r>
            <a:pPr indent="0" marL="0">
              <a:lnSpc>
                <a:spcPct val="115000"/>
              </a:lnSpc>
              <a:buNone/>
            </a:pPr>
            <a:r>
              <a:rPr lang="en-US" sz="103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103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3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나이·소득 중 하나라도 비면 삭제 → 1, 2, 4행 삭제</a:t>
            </a:r>
            <a:endParaRPr lang="en-US" sz="1031" dirty="0"/>
          </a:p>
        </p:txBody>
      </p:sp>
      <p:sp>
        <p:nvSpPr>
          <p:cNvPr id="6" name="Shape 4"/>
          <p:cNvSpPr/>
          <p:nvPr/>
        </p:nvSpPr>
        <p:spPr>
          <a:xfrm>
            <a:off x="4709160" y="1371600"/>
            <a:ext cx="3977640" cy="1280160"/>
          </a:xfrm>
          <a:prstGeom prst="roundRect">
            <a:avLst>
              <a:gd name="adj" fmla="val 5714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73752" y="1481328"/>
            <a:ext cx="36484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6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df.dropna(subset=[</a:t>
            </a:r>
            <a:pPr indent="0" marL="0">
              <a:lnSpc>
                <a:spcPct val="115000"/>
              </a:lnSpc>
              <a:buNone/>
            </a:pPr>
            <a:r>
              <a:rPr lang="en-US" sz="1064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'나이'</a:t>
            </a:r>
            <a:pPr indent="0" marL="0">
              <a:lnSpc>
                <a:spcPct val="115000"/>
              </a:lnSpc>
              <a:buNone/>
            </a:pPr>
            <a:r>
              <a:rPr lang="en-US" sz="106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064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'소득'</a:t>
            </a:r>
            <a:pPr indent="0" marL="0">
              <a:lnSpc>
                <a:spcPct val="115000"/>
              </a:lnSpc>
              <a:buNone/>
            </a:pPr>
            <a:r>
              <a:rPr lang="en-US" sz="106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how=</a:t>
            </a:r>
            <a:pPr indent="0" marL="0">
              <a:lnSpc>
                <a:spcPct val="115000"/>
              </a:lnSpc>
              <a:buNone/>
            </a:pPr>
            <a:r>
              <a:rPr lang="en-US" sz="1064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'all'</a:t>
            </a:r>
            <a:pPr indent="0" marL="0">
              <a:lnSpc>
                <a:spcPct val="115000"/>
              </a:lnSpc>
              <a:buNone/>
            </a:pPr>
            <a:r>
              <a:rPr lang="en-US" sz="106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106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64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나이·소득이 둘 다 비어야 삭제 → 삭제 없음</a:t>
            </a:r>
            <a:endParaRPr lang="en-US" sz="1064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3977640" cy="182880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9992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any = 하나라도 (기본값)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383280"/>
            <a:ext cx="3520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엄격하다. 지정한 열 중 하나라도 NaN 이면 그 행을 버린다.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09160" y="2834640"/>
            <a:ext cx="3977640" cy="182880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37760" y="29992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all = 전부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3383280"/>
            <a:ext cx="3520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관대하다. 지정한 열이 전부 NaN 일 때만 버린다. 거의 빈 행을 걸러낼 때.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47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실수 3가지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안 받음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df.dropna(subset=['승패']) 만 쓰면 df 는 그대로. df = df.dropna(…) 로 받거나 inplace=True.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subset 에 문자열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subset='승패' 도 동작은 하지만 리스트가 정석. 열 두 개면 반드시 ['a', 'b'].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인덱스가 비게 됨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 뒤 인덱스가 0, 1, 2, 4 로 빈다. 25차시 reset_index(drop=True) 로 다시 매긴다.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1554480"/>
          </a:xfrm>
          <a:prstGeom prst="roundRect">
            <a:avLst>
              <a:gd name="adj" fmla="val 470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218688"/>
            <a:ext cx="790041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df.dropna(subset=[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'승패'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]).reset_index(drop=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(df.index.tolist())  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[0, 1, 2, 3]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47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AICE 실기 패턴 — 타깃은 지우고, 입력은 채운다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1) 정답이 없는 행은 학습 불가 → 삭제</a:t>
            </a:r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df.dropna(subset=[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'승패'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2) 입력 열의 결측은 지우지 말고 채운다 (18차시)</a:t>
            </a:r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'나이'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df[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'나이'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].fillna(df[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'나이'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].mean())</a:t>
            </a:r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(df.isna().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703320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7764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4032504"/>
            <a:ext cx="4791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4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나이    0</a:t>
            </a:r>
            <a:endParaRPr lang="en-US" sz="84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4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소득    1</a:t>
            </a:r>
            <a:endParaRPr lang="en-US" sz="84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4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승패    0</a:t>
            </a:r>
            <a:endParaRPr lang="en-US" sz="845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나누나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정답이 없으면 그 행은 아무 정보도 못 준다 → 삭제. 입력 하나가 비었다고 행을 버리면 나머지 열의 정보까지 잃는다 → 채운다.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/ 47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— 앱 17차시 (10분) · 확인 퀴즈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코드 소환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「dropna 정밀 삭제 파이프라인 조립」 버튼 → subset 과 how 를 넣은 dropna 와 전후 행 수를 찍는 코드가 나타난다.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파라미터 적용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 기준 열(나이·소득·승패결과)과 how(any·all)를 고르고 「파라미터 적용」. 16차시 결측 수(45·80·…)로 남을 행 수를 먼저 계산한다.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실행 · 차트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「파이프라인 실행」 → 삭제 전 vs 후 행 수 막대. 기준 열을 소득으로 바꾸면 얼마나 더 줄어드는지 본다.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df.dropna() 를 옵션 없이 쓰면 어떤 행이 지워지나?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4472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어느 열이든 NaN 이 하나라도 있는 행 전부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977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'승패' 열이 빈 행만 지우는 코드는?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270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df.dropna(subset=['승패'])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/ 47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17차시 정리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dropna 는 반드시 subset 과 함께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691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df.dropna() 단독 — 하나라도 비면 삭제. 데이터 반토막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377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df.dropna(subset=['열']) — 그 열이 빈 행만. how='all' 이면 전부 비어야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0632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df = 로 받는다. 삭제 뒤 reset_index(drop=True)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749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실기 패턴: 타깃 열 결측은 지우고, 입력 열 결측은 채운다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→ 18차시 fillna() — 구멍을 평균·중앙값으로 채우기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/ 47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18차시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결측치 채우기 (평균값 vs 중앙값)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하나가 소중하다 — 빈칸에 평균이나 중앙값을 채워 복구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df.fillna()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1188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39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mean() / median()</a:t>
            </a:r>
            <a:endParaRPr lang="en-US" sz="1639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/ 47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배우면 AICE에서 이렇게 쓴다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열 결측 채우기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df['나이'] = df['나이'].fillna(df['나이'].mean()) — 실기 빈출 1위. 그대로 외운다.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 열 결측 채우기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최빈값: df['티어'].fillna(df['티어'].mode()[0]) — 가장 많은 값으로.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1821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막을 사고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5661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이상치가 있는 열을 평균으로 채우면 엉뚱한 값이 들어간다 (14차시 990 기억). 그럴 땐 중앙값(median). 문제가 지정해 주면 그대로, 아니면 이 기준으로 고른다.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/ 47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fillna(값) — 빈칸을 그 값으로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pd.DataFrame({</a:t>
            </a:r>
            <a:pPr indent="0" marL="0">
              <a:lnSpc>
                <a:spcPct val="115000"/>
              </a:lnSpc>
              <a:buNone/>
            </a:pPr>
            <a:r>
              <a:rPr lang="en-US" sz="1088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'나이'</a:t>
            </a:r>
            <a:pPr indent="0" marL="0">
              <a:lnSpc>
                <a:spcPct val="115000"/>
              </a:lnSpc>
              <a:buNone/>
            </a:pPr>
            <a:r>
              <a:rPr lang="en-US" sz="108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[23, np.nan, 31, 27, np.nan]})</a:t>
            </a:r>
            <a:pPr indent="0" marL="0">
              <a:lnSpc>
                <a:spcPct val="115000"/>
              </a:lnSpc>
              <a:buNone/>
            </a:pPr>
            <a:endParaRPr lang="en-US" sz="108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8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fill_val = df[</a:t>
            </a:r>
            <a:pPr indent="0" marL="0">
              <a:lnSpc>
                <a:spcPct val="115000"/>
              </a:lnSpc>
              <a:buNone/>
            </a:pPr>
            <a:r>
              <a:rPr lang="en-US" sz="1088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'나이'</a:t>
            </a:r>
            <a:pPr indent="0" marL="0">
              <a:lnSpc>
                <a:spcPct val="115000"/>
              </a:lnSpc>
              <a:buNone/>
            </a:pPr>
            <a:r>
              <a:rPr lang="en-US" sz="108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].mean()</a:t>
            </a:r>
            <a:pPr indent="0" marL="0">
              <a:lnSpc>
                <a:spcPct val="115000"/>
              </a:lnSpc>
              <a:buNone/>
            </a:pPr>
            <a:endParaRPr lang="en-US" sz="108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88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08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088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'평균:'</a:t>
            </a:r>
            <a:pPr indent="0" marL="0">
              <a:lnSpc>
                <a:spcPct val="115000"/>
              </a:lnSpc>
              <a:buNone/>
            </a:pPr>
            <a:r>
              <a:rPr lang="en-US" sz="108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fill_val)</a:t>
            </a:r>
            <a:pPr indent="0" marL="0">
              <a:lnSpc>
                <a:spcPct val="115000"/>
              </a:lnSpc>
              <a:buNone/>
            </a:pPr>
            <a:endParaRPr lang="en-US" sz="108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8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pPr indent="0" marL="0">
              <a:lnSpc>
                <a:spcPct val="115000"/>
              </a:lnSpc>
              <a:buNone/>
            </a:pPr>
            <a:r>
              <a:rPr lang="en-US" sz="1088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'나이'</a:t>
            </a:r>
            <a:pPr indent="0" marL="0">
              <a:lnSpc>
                <a:spcPct val="115000"/>
              </a:lnSpc>
              <a:buNone/>
            </a:pPr>
            <a:r>
              <a:rPr lang="en-US" sz="108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df[</a:t>
            </a:r>
            <a:pPr indent="0" marL="0">
              <a:lnSpc>
                <a:spcPct val="115000"/>
              </a:lnSpc>
              <a:buNone/>
            </a:pPr>
            <a:r>
              <a:rPr lang="en-US" sz="1088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'나이'</a:t>
            </a:r>
            <a:pPr indent="0" marL="0">
              <a:lnSpc>
                <a:spcPct val="115000"/>
              </a:lnSpc>
              <a:buNone/>
            </a:pPr>
            <a:r>
              <a:rPr lang="en-US" sz="108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].fillna(fill_val)</a:t>
            </a:r>
            <a:pPr indent="0" marL="0">
              <a:lnSpc>
                <a:spcPct val="115000"/>
              </a:lnSpc>
              <a:buNone/>
            </a:pPr>
            <a:endParaRPr lang="en-US" sz="108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88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08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(df[</a:t>
            </a:r>
            <a:pPr indent="0" marL="0">
              <a:lnSpc>
                <a:spcPct val="115000"/>
              </a:lnSpc>
              <a:buNone/>
            </a:pPr>
            <a:r>
              <a:rPr lang="en-US" sz="1088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'나이'</a:t>
            </a:r>
            <a:pPr indent="0" marL="0">
              <a:lnSpc>
                <a:spcPct val="115000"/>
              </a:lnSpc>
              <a:buNone/>
            </a:pPr>
            <a:r>
              <a:rPr lang="en-US" sz="108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].tolist())</a:t>
            </a:r>
            <a:endParaRPr lang="en-US" sz="1088" dirty="0"/>
          </a:p>
        </p:txBody>
      </p:sp>
      <p:sp>
        <p:nvSpPr>
          <p:cNvPr id="6" name="Shape 4"/>
          <p:cNvSpPr/>
          <p:nvPr/>
        </p:nvSpPr>
        <p:spPr>
          <a:xfrm>
            <a:off x="457200" y="342900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502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758184"/>
            <a:ext cx="47914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평균: 27.0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[23.0, 27.0, 31.0, 27.0, 27.0]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mean() 은 NaN 을 빼고 계산한다 (23+31+27)/3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fillna 는 새 열을 돌려준다 → 다시 대입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채운 뒤 isna().sum() 이 0 인지 확인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앱 18차시 코드가 정확히 이 세 줄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 / 47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vs 중앙값 — 이상치가 있으면 중앙값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1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pd.Series([23, 25, 27, np.nan, 990])   </a:t>
            </a:r>
            <a:pPr indent="0" marL="0">
              <a:lnSpc>
                <a:spcPct val="115000"/>
              </a:lnSpc>
              <a:buNone/>
            </a:pPr>
            <a:r>
              <a:rPr lang="en-US" sz="1114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990 은 오타</a:t>
            </a:r>
            <a:pPr indent="0" marL="0">
              <a:lnSpc>
                <a:spcPct val="115000"/>
              </a:lnSpc>
              <a:buNone/>
            </a:pPr>
            <a:endParaRPr lang="en-US" sz="111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14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11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14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'mean  :'</a:t>
            </a:r>
            <a:pPr indent="0" marL="0">
              <a:lnSpc>
                <a:spcPct val="115000"/>
              </a:lnSpc>
              <a:buNone/>
            </a:pPr>
            <a:r>
              <a:rPr lang="en-US" sz="111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s.mean())</a:t>
            </a:r>
            <a:pPr indent="0" marL="0">
              <a:lnSpc>
                <a:spcPct val="115000"/>
              </a:lnSpc>
              <a:buNone/>
            </a:pPr>
            <a:endParaRPr lang="en-US" sz="111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14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11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14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'median:'</a:t>
            </a:r>
            <a:pPr indent="0" marL="0">
              <a:lnSpc>
                <a:spcPct val="115000"/>
              </a:lnSpc>
              <a:buNone/>
            </a:pPr>
            <a:r>
              <a:rPr lang="en-US" sz="111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s.median())</a:t>
            </a:r>
            <a:endParaRPr lang="en-US" sz="1114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2862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118104"/>
            <a:ext cx="4791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14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  : 266.25</a:t>
            </a:r>
            <a:endParaRPr lang="en-US" sz="101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14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median: 26.0</a:t>
            </a:r>
            <a:endParaRPr lang="en-US" sz="1014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5120640" cy="822960"/>
          </a:xfrm>
          <a:prstGeom prst="roundRect">
            <a:avLst>
              <a:gd name="adj" fmla="val 11111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40050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NaN 을 266 으로 채우면 나이가 266살이 된다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806440" y="1371600"/>
            <a:ext cx="2880360" cy="3291840"/>
          </a:xfrm>
          <a:prstGeom prst="roundRect">
            <a:avLst>
              <a:gd name="adj" fmla="val 3175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고르는 기준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1920240"/>
            <a:ext cx="2423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이상치 없음 → mean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이상치 있음 / 치우침 → median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글자 열 → mode()[0] (최빈값)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0 이 의미 있는 열(구매수량) → fillna(0)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14차시 describe 의 75%·max 로 판단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 / 47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열마다 다른 값으로 한 번에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790041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7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pd.DataFrame({</a:t>
            </a:r>
            <a:pPr indent="0" marL="0">
              <a:lnSpc>
                <a:spcPct val="115000"/>
              </a:lnSpc>
              <a:buNone/>
            </a:pPr>
            <a:r>
              <a:rPr lang="en-US" sz="97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'나이'</a:t>
            </a:r>
            <a:pPr indent="0" marL="0">
              <a:lnSpc>
                <a:spcPct val="115000"/>
              </a:lnSpc>
              <a:buNone/>
            </a:pPr>
            <a:r>
              <a:rPr lang="en-US" sz="97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[23, np.nan, 31], </a:t>
            </a:r>
            <a:pPr indent="0" marL="0">
              <a:lnSpc>
                <a:spcPct val="115000"/>
              </a:lnSpc>
              <a:buNone/>
            </a:pPr>
            <a:r>
              <a:rPr lang="en-US" sz="97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'소득'</a:t>
            </a:r>
            <a:pPr indent="0" marL="0">
              <a:lnSpc>
                <a:spcPct val="115000"/>
              </a:lnSpc>
              <a:buNone/>
            </a:pPr>
            <a:r>
              <a:rPr lang="en-US" sz="97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[300, np.nan, 350], </a:t>
            </a:r>
            <a:pPr indent="0" marL="0">
              <a:lnSpc>
                <a:spcPct val="115000"/>
              </a:lnSpc>
              <a:buNone/>
            </a:pPr>
            <a:r>
              <a:rPr lang="en-US" sz="97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'티어'</a:t>
            </a:r>
            <a:pPr indent="0" marL="0">
              <a:lnSpc>
                <a:spcPct val="115000"/>
              </a:lnSpc>
              <a:buNone/>
            </a:pPr>
            <a:r>
              <a:rPr lang="en-US" sz="97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pPr indent="0" marL="0">
              <a:lnSpc>
                <a:spcPct val="115000"/>
              </a:lnSpc>
              <a:buNone/>
            </a:pPr>
            <a:r>
              <a:rPr lang="en-US" sz="97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'골드'</a:t>
            </a:r>
            <a:pPr indent="0" marL="0">
              <a:lnSpc>
                <a:spcPct val="115000"/>
              </a:lnSpc>
              <a:buNone/>
            </a:pPr>
            <a:r>
              <a:rPr lang="en-US" sz="97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np.nan, </a:t>
            </a:r>
            <a:pPr indent="0" marL="0">
              <a:lnSpc>
                <a:spcPct val="115000"/>
              </a:lnSpc>
              <a:buNone/>
            </a:pPr>
            <a:r>
              <a:rPr lang="en-US" sz="97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'실버'</a:t>
            </a:r>
            <a:pPr indent="0" marL="0">
              <a:lnSpc>
                <a:spcPct val="115000"/>
              </a:lnSpc>
              <a:buNone/>
            </a:pPr>
            <a:r>
              <a:rPr lang="en-US" sz="97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]})</a:t>
            </a:r>
            <a:pPr indent="0" marL="0">
              <a:lnSpc>
                <a:spcPct val="115000"/>
              </a:lnSpc>
              <a:buNone/>
            </a:pPr>
            <a:endParaRPr lang="en-US" sz="97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7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pPr indent="0" marL="0">
              <a:lnSpc>
                <a:spcPct val="115000"/>
              </a:lnSpc>
              <a:buNone/>
            </a:pPr>
            <a:r>
              <a:rPr lang="en-US" sz="97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'나이'</a:t>
            </a:r>
            <a:pPr indent="0" marL="0">
              <a:lnSpc>
                <a:spcPct val="115000"/>
              </a:lnSpc>
              <a:buNone/>
            </a:pPr>
            <a:r>
              <a:rPr lang="en-US" sz="97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df[</a:t>
            </a:r>
            <a:pPr indent="0" marL="0">
              <a:lnSpc>
                <a:spcPct val="115000"/>
              </a:lnSpc>
              <a:buNone/>
            </a:pPr>
            <a:r>
              <a:rPr lang="en-US" sz="97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'나이'</a:t>
            </a:r>
            <a:pPr indent="0" marL="0">
              <a:lnSpc>
                <a:spcPct val="115000"/>
              </a:lnSpc>
              <a:buNone/>
            </a:pPr>
            <a:r>
              <a:rPr lang="en-US" sz="97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].fillna(df[</a:t>
            </a:r>
            <a:pPr indent="0" marL="0">
              <a:lnSpc>
                <a:spcPct val="115000"/>
              </a:lnSpc>
              <a:buNone/>
            </a:pPr>
            <a:r>
              <a:rPr lang="en-US" sz="97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'나이'</a:t>
            </a:r>
            <a:pPr indent="0" marL="0">
              <a:lnSpc>
                <a:spcPct val="115000"/>
              </a:lnSpc>
              <a:buNone/>
            </a:pPr>
            <a:r>
              <a:rPr lang="en-US" sz="97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].median())</a:t>
            </a:r>
            <a:pPr indent="0" marL="0">
              <a:lnSpc>
                <a:spcPct val="115000"/>
              </a:lnSpc>
              <a:buNone/>
            </a:pPr>
            <a:endParaRPr lang="en-US" sz="97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7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pPr indent="0" marL="0">
              <a:lnSpc>
                <a:spcPct val="115000"/>
              </a:lnSpc>
              <a:buNone/>
            </a:pPr>
            <a:r>
              <a:rPr lang="en-US" sz="97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'소득'</a:t>
            </a:r>
            <a:pPr indent="0" marL="0">
              <a:lnSpc>
                <a:spcPct val="115000"/>
              </a:lnSpc>
              <a:buNone/>
            </a:pPr>
            <a:r>
              <a:rPr lang="en-US" sz="97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df[</a:t>
            </a:r>
            <a:pPr indent="0" marL="0">
              <a:lnSpc>
                <a:spcPct val="115000"/>
              </a:lnSpc>
              <a:buNone/>
            </a:pPr>
            <a:r>
              <a:rPr lang="en-US" sz="97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'소득'</a:t>
            </a:r>
            <a:pPr indent="0" marL="0">
              <a:lnSpc>
                <a:spcPct val="115000"/>
              </a:lnSpc>
              <a:buNone/>
            </a:pPr>
            <a:r>
              <a:rPr lang="en-US" sz="97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].fillna(df[</a:t>
            </a:r>
            <a:pPr indent="0" marL="0">
              <a:lnSpc>
                <a:spcPct val="115000"/>
              </a:lnSpc>
              <a:buNone/>
            </a:pPr>
            <a:r>
              <a:rPr lang="en-US" sz="97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'소득'</a:t>
            </a:r>
            <a:pPr indent="0" marL="0">
              <a:lnSpc>
                <a:spcPct val="115000"/>
              </a:lnSpc>
              <a:buNone/>
            </a:pPr>
            <a:r>
              <a:rPr lang="en-US" sz="97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].mean())</a:t>
            </a:r>
            <a:pPr indent="0" marL="0">
              <a:lnSpc>
                <a:spcPct val="115000"/>
              </a:lnSpc>
              <a:buNone/>
            </a:pPr>
            <a:endParaRPr lang="en-US" sz="97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7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pPr indent="0" marL="0">
              <a:lnSpc>
                <a:spcPct val="115000"/>
              </a:lnSpc>
              <a:buNone/>
            </a:pPr>
            <a:r>
              <a:rPr lang="en-US" sz="97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'티어'</a:t>
            </a:r>
            <a:pPr indent="0" marL="0">
              <a:lnSpc>
                <a:spcPct val="115000"/>
              </a:lnSpc>
              <a:buNone/>
            </a:pPr>
            <a:r>
              <a:rPr lang="en-US" sz="97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df[</a:t>
            </a:r>
            <a:pPr indent="0" marL="0">
              <a:lnSpc>
                <a:spcPct val="115000"/>
              </a:lnSpc>
              <a:buNone/>
            </a:pPr>
            <a:r>
              <a:rPr lang="en-US" sz="97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'티어'</a:t>
            </a:r>
            <a:pPr indent="0" marL="0">
              <a:lnSpc>
                <a:spcPct val="115000"/>
              </a:lnSpc>
              <a:buNone/>
            </a:pPr>
            <a:r>
              <a:rPr lang="en-US" sz="97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].fillna(df[</a:t>
            </a:r>
            <a:pPr indent="0" marL="0">
              <a:lnSpc>
                <a:spcPct val="115000"/>
              </a:lnSpc>
              <a:buNone/>
            </a:pPr>
            <a:r>
              <a:rPr lang="en-US" sz="97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'티어'</a:t>
            </a:r>
            <a:pPr indent="0" marL="0">
              <a:lnSpc>
                <a:spcPct val="115000"/>
              </a:lnSpc>
              <a:buNone/>
            </a:pPr>
            <a:r>
              <a:rPr lang="en-US" sz="97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].mode()[0])</a:t>
            </a:r>
            <a:pPr indent="0" marL="0">
              <a:lnSpc>
                <a:spcPct val="115000"/>
              </a:lnSpc>
              <a:buNone/>
            </a:pPr>
            <a:endParaRPr lang="en-US" sz="97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76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97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(df)</a:t>
            </a:r>
            <a:endParaRPr lang="en-US" sz="976" dirty="0"/>
          </a:p>
        </p:txBody>
      </p:sp>
      <p:sp>
        <p:nvSpPr>
          <p:cNvPr id="6" name="Shape 4"/>
          <p:cNvSpPr/>
          <p:nvPr/>
        </p:nvSpPr>
        <p:spPr>
          <a:xfrm>
            <a:off x="457200" y="3337560"/>
            <a:ext cx="8229600" cy="1325880"/>
          </a:xfrm>
          <a:prstGeom prst="roundRect">
            <a:avLst>
              <a:gd name="adj" fmla="val 551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4107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666744"/>
            <a:ext cx="790041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77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나이     소득  티어</a:t>
            </a:r>
            <a:endParaRPr lang="en-US" sz="107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77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23.0  300.0  골드</a:t>
            </a:r>
            <a:endParaRPr lang="en-US" sz="107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77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27.0  325.0  골드</a:t>
            </a:r>
            <a:endParaRPr lang="en-US" sz="107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77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31.0  350.0  실버</a:t>
            </a:r>
            <a:endParaRPr lang="en-US" sz="1077" dirty="0"/>
          </a:p>
        </p:txBody>
      </p:sp>
      <p:sp>
        <p:nvSpPr>
          <p:cNvPr id="9" name="Text 7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 / 47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실수 3가지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대입을 안 함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df['나이'].fillna(27) 만 쓰면 아무것도 안 바뀐다. df['나이'] = … 로 받는다 (inplace=True 도 가능하나 경고가 뜬다).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mode() 에 [0] 누락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mode() 는 Series 를 돌려준다 (최빈값이 여럿일 수 있어서). 값 하나를 쓰려면 mode()[0].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df.fillna(0)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 열까지 0 이 들어간다. 열마다 맞는 값으로 따로 채운다.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1554480"/>
          </a:xfrm>
          <a:prstGeom prst="roundRect">
            <a:avLst>
              <a:gd name="adj" fmla="val 470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218688"/>
            <a:ext cx="790041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7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pPr indent="0" marL="0">
              <a:lnSpc>
                <a:spcPct val="115000"/>
              </a:lnSpc>
              <a:buNone/>
            </a:pPr>
            <a:r>
              <a:rPr lang="en-US" sz="1475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'나이'</a:t>
            </a:r>
            <a:pPr indent="0" marL="0">
              <a:lnSpc>
                <a:spcPct val="115000"/>
              </a:lnSpc>
              <a:buNone/>
            </a:pPr>
            <a:r>
              <a:rPr lang="en-US" sz="147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df[</a:t>
            </a:r>
            <a:pPr indent="0" marL="0">
              <a:lnSpc>
                <a:spcPct val="115000"/>
              </a:lnSpc>
              <a:buNone/>
            </a:pPr>
            <a:r>
              <a:rPr lang="en-US" sz="1475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'나이'</a:t>
            </a:r>
            <a:pPr indent="0" marL="0">
              <a:lnSpc>
                <a:spcPct val="115000"/>
              </a:lnSpc>
              <a:buNone/>
            </a:pPr>
            <a:r>
              <a:rPr lang="en-US" sz="147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].fillna(df[</a:t>
            </a:r>
            <a:pPr indent="0" marL="0">
              <a:lnSpc>
                <a:spcPct val="115000"/>
              </a:lnSpc>
              <a:buNone/>
            </a:pPr>
            <a:r>
              <a:rPr lang="en-US" sz="1475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'나이'</a:t>
            </a:r>
            <a:pPr indent="0" marL="0">
              <a:lnSpc>
                <a:spcPct val="115000"/>
              </a:lnSpc>
              <a:buNone/>
            </a:pPr>
            <a:r>
              <a:rPr lang="en-US" sz="147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].mean())    </a:t>
            </a:r>
            <a:pPr indent="0" marL="0">
              <a:lnSpc>
                <a:spcPct val="115000"/>
              </a:lnSpc>
              <a:buNone/>
            </a:pPr>
            <a:r>
              <a:rPr lang="en-US" sz="147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대입까지가 한 문장</a:t>
            </a:r>
            <a:pPr indent="0" marL="0">
              <a:lnSpc>
                <a:spcPct val="115000"/>
              </a:lnSpc>
              <a:buNone/>
            </a:pPr>
            <a:endParaRPr lang="en-US" sz="147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75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47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(df[</a:t>
            </a:r>
            <a:pPr indent="0" marL="0">
              <a:lnSpc>
                <a:spcPct val="115000"/>
              </a:lnSpc>
              <a:buNone/>
            </a:pPr>
            <a:r>
              <a:rPr lang="en-US" sz="1475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'나이'</a:t>
            </a:r>
            <a:pPr indent="0" marL="0">
              <a:lnSpc>
                <a:spcPct val="115000"/>
              </a:lnSpc>
              <a:buNone/>
            </a:pPr>
            <a:r>
              <a:rPr lang="en-US" sz="147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].isna().</a:t>
            </a:r>
            <a:pPr indent="0" marL="0">
              <a:lnSpc>
                <a:spcPct val="115000"/>
              </a:lnSpc>
              <a:buNone/>
            </a:pPr>
            <a:r>
              <a:rPr lang="en-US" sz="1475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lnSpc>
                <a:spcPct val="115000"/>
              </a:lnSpc>
              <a:buNone/>
            </a:pPr>
            <a:r>
              <a:rPr lang="en-US" sz="147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                     </a:t>
            </a:r>
            <a:pPr indent="0" marL="0">
              <a:lnSpc>
                <a:spcPct val="115000"/>
              </a:lnSpc>
              <a:buNone/>
            </a:pPr>
            <a:r>
              <a:rPr lang="en-US" sz="147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 확인</a:t>
            </a:r>
            <a:endParaRPr lang="en-US" sz="1475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 / 47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AICE 실기 패턴 — 결측 열 목록을 돌며 채우기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3017520"/>
          </a:xfrm>
          <a:prstGeom prst="roundRect">
            <a:avLst>
              <a:gd name="adj" fmla="val 2424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1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num_cols = df.select_dtypes(include=</a:t>
            </a:r>
            <a:pPr indent="0" marL="0">
              <a:lnSpc>
                <a:spcPct val="115000"/>
              </a:lnSpc>
              <a:buNone/>
            </a:pPr>
            <a:r>
              <a:rPr lang="en-US" sz="91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'number'</a:t>
            </a:r>
            <a:pPr indent="0" marL="0">
              <a:lnSpc>
                <a:spcPct val="115000"/>
              </a:lnSpc>
              <a:buNone/>
            </a:pPr>
            <a:r>
              <a:rPr lang="en-US" sz="91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).columns    </a:t>
            </a:r>
            <a:pPr indent="0" marL="0">
              <a:lnSpc>
                <a:spcPct val="115000"/>
              </a:lnSpc>
              <a:buNone/>
            </a:pPr>
            <a:r>
              <a:rPr lang="en-US" sz="91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13차시</a:t>
            </a:r>
            <a:pPr indent="0" marL="0">
              <a:lnSpc>
                <a:spcPct val="115000"/>
              </a:lnSpc>
              <a:buNone/>
            </a:pPr>
            <a:endParaRPr lang="en-US" sz="91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1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91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col </a:t>
            </a:r>
            <a:pPr indent="0" marL="0">
              <a:lnSpc>
                <a:spcPct val="115000"/>
              </a:lnSpc>
              <a:buNone/>
            </a:pPr>
            <a:r>
              <a:rPr lang="en-US" sz="91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5000"/>
              </a:lnSpc>
              <a:buNone/>
            </a:pPr>
            <a:r>
              <a:rPr lang="en-US" sz="91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num_cols:</a:t>
            </a:r>
            <a:pPr indent="0" marL="0">
              <a:lnSpc>
                <a:spcPct val="115000"/>
              </a:lnSpc>
              <a:buNone/>
            </a:pPr>
            <a:endParaRPr lang="en-US" sz="91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1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91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5000"/>
              </a:lnSpc>
              <a:buNone/>
            </a:pPr>
            <a:r>
              <a:rPr lang="en-US" sz="91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df[col].isna().</a:t>
            </a:r>
            <a:pPr indent="0" marL="0">
              <a:lnSpc>
                <a:spcPct val="115000"/>
              </a:lnSpc>
              <a:buNone/>
            </a:pPr>
            <a:r>
              <a:rPr lang="en-US" sz="91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lnSpc>
                <a:spcPct val="115000"/>
              </a:lnSpc>
              <a:buNone/>
            </a:pPr>
            <a:r>
              <a:rPr lang="en-US" sz="91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&gt; 0:                            </a:t>
            </a:r>
            <a:pPr indent="0" marL="0">
              <a:lnSpc>
                <a:spcPct val="115000"/>
              </a:lnSpc>
              <a:buNone/>
            </a:pPr>
            <a:r>
              <a:rPr lang="en-US" sz="91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16차시</a:t>
            </a:r>
            <a:pPr indent="0" marL="0">
              <a:lnSpc>
                <a:spcPct val="115000"/>
              </a:lnSpc>
              <a:buNone/>
            </a:pPr>
            <a:endParaRPr lang="en-US" sz="91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1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df[col] = df[col].fillna(df[col].median())</a:t>
            </a:r>
            <a:pPr indent="0" marL="0">
              <a:lnSpc>
                <a:spcPct val="115000"/>
              </a:lnSpc>
              <a:buNone/>
            </a:pPr>
            <a:endParaRPr lang="en-US" sz="911" dirty="0"/>
          </a:p>
          <a:p>
            <a:pPr indent="0" marL="0">
              <a:lnSpc>
                <a:spcPct val="115000"/>
              </a:lnSpc>
              <a:buNone/>
            </a:pPr>
            <a:endParaRPr lang="en-US" sz="91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1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obj_cols = df.select_dtypes(include=</a:t>
            </a:r>
            <a:pPr indent="0" marL="0">
              <a:lnSpc>
                <a:spcPct val="115000"/>
              </a:lnSpc>
              <a:buNone/>
            </a:pPr>
            <a:r>
              <a:rPr lang="en-US" sz="91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'object'</a:t>
            </a:r>
            <a:pPr indent="0" marL="0">
              <a:lnSpc>
                <a:spcPct val="115000"/>
              </a:lnSpc>
              <a:buNone/>
            </a:pPr>
            <a:r>
              <a:rPr lang="en-US" sz="91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).columns</a:t>
            </a:r>
            <a:pPr indent="0" marL="0">
              <a:lnSpc>
                <a:spcPct val="115000"/>
              </a:lnSpc>
              <a:buNone/>
            </a:pPr>
            <a:endParaRPr lang="en-US" sz="91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1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91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col </a:t>
            </a:r>
            <a:pPr indent="0" marL="0">
              <a:lnSpc>
                <a:spcPct val="115000"/>
              </a:lnSpc>
              <a:buNone/>
            </a:pPr>
            <a:r>
              <a:rPr lang="en-US" sz="91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5000"/>
              </a:lnSpc>
              <a:buNone/>
            </a:pPr>
            <a:r>
              <a:rPr lang="en-US" sz="91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obj_cols:</a:t>
            </a:r>
            <a:pPr indent="0" marL="0">
              <a:lnSpc>
                <a:spcPct val="115000"/>
              </a:lnSpc>
              <a:buNone/>
            </a:pPr>
            <a:endParaRPr lang="en-US" sz="91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1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df[col] = df[col].fillna(df[col].mode()[0])</a:t>
            </a:r>
            <a:pPr indent="0" marL="0">
              <a:lnSpc>
                <a:spcPct val="115000"/>
              </a:lnSpc>
              <a:buNone/>
            </a:pPr>
            <a:endParaRPr lang="en-US" sz="911" dirty="0"/>
          </a:p>
          <a:p>
            <a:pPr indent="0" marL="0">
              <a:lnSpc>
                <a:spcPct val="115000"/>
              </a:lnSpc>
              <a:buNone/>
            </a:pPr>
            <a:endParaRPr lang="en-US" sz="91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1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91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(df.isna().</a:t>
            </a:r>
            <a:pPr indent="0" marL="0">
              <a:lnSpc>
                <a:spcPct val="115000"/>
              </a:lnSpc>
              <a:buNone/>
            </a:pPr>
            <a:r>
              <a:rPr lang="en-US" sz="91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lnSpc>
                <a:spcPct val="115000"/>
              </a:lnSpc>
              <a:buNone/>
            </a:pPr>
            <a:r>
              <a:rPr lang="en-US" sz="91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pPr indent="0" marL="0">
              <a:lnSpc>
                <a:spcPct val="115000"/>
              </a:lnSpc>
              <a:buNone/>
            </a:pPr>
            <a:r>
              <a:rPr lang="en-US" sz="91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lnSpc>
                <a:spcPct val="115000"/>
              </a:lnSpc>
              <a:buNone/>
            </a:pPr>
            <a:r>
              <a:rPr lang="en-US" sz="91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    </a:t>
            </a:r>
            <a:pPr indent="0" marL="0">
              <a:lnSpc>
                <a:spcPct val="115000"/>
              </a:lnSpc>
              <a:buNone/>
            </a:pPr>
            <a:r>
              <a:rPr lang="en-US" sz="91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</a:t>
            </a:r>
            <a:endParaRPr lang="en-US" sz="911" dirty="0"/>
          </a:p>
        </p:txBody>
      </p:sp>
      <p:sp>
        <p:nvSpPr>
          <p:cNvPr id="6" name="Shape 4"/>
          <p:cNvSpPr/>
          <p:nvPr/>
        </p:nvSpPr>
        <p:spPr>
          <a:xfrm>
            <a:off x="5806440" y="1371600"/>
            <a:ext cx="2880360" cy="301752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· 16 · 18 이 한 코드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920240"/>
            <a:ext cx="2423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select_dtypes 로 열을 나누고(13), isna 로 골라(16), fillna 로 채운다(18). 열이 몇 개든 같은 코드.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줄이 0 이어야 모델에 넣을 수 있다.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 / 47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— 앱 18차시 (10분) · 확인 퀴즈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코드 소환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「fillna 대치 파이프라인 조립」 버튼 → 통계값을 구해 fillna 로 채우고 결과를 찍는 세 줄이 나타난다.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파라미터 적용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열(나이·소득·플레이시간)과 방법(mean·median·0)을 고르고 「파라미터 적용」. mean 과 median 중 어느 쪽이 이상치에 강한지 먼저 말한다.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실행 · 차트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「파이프라인 실행」 → 채우기 전후 완성도 차트(100% 복구). 방법을 바꿔도 완성도는 같다 — 값만 다르다는 걸 짚는다.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이상치가 있는 열의 결측은 mean 과 median 중?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4472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median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977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글자 열의 결측을 최빈값으로 채우는 식은?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270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df['열'].fillna(df['열'].mode()[0])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 / 47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18차시 정리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fillna 는 '무엇으로' 가 전부 — mean · median · mode · 0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691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df['열'] = df['열'].fillna(df['열'].mean()) — 대입까지 한 문장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377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이상치 있으면 median, 글자 열은 mode()[0], 0 이 의미 있으면 0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0632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채운 뒤 isna().sum().sum() 이 0 인지 확인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749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실기 패턴: select_dtypes 로 나눠 for 문으로 전부 채운다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→ 19차시 drop(axis=1) · rename — 열 버리기와 이름 바꾸기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 / 47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19차시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불필요한 열 삭제와 컬럼명 변경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주민번호·ID 는 학습에 방해만 된다 — drop 으로 버리고 rename 으로 알기 쉽게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df.drop(axis=1)</a:t>
            </a:r>
            <a:endParaRPr lang="en-US" sz="1858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1188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df.rename()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 / 47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배우면 AICE에서 이렇게 쓴다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ID·이름 열 제거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유저ID 같은 고유값은 예측에 도움이 안 되고 모델을 헷갈리게 한다. df = df.drop(columns=['유저ID']).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X, y 분리 (방법 2)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= df.drop(columns=['승패']) — 정답 열만 뺀 나머지가 입력. 15차시에서 본 것.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1821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막을 사고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5661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df.drop('유저ID') 처럼 axis 를 빼면 '유저ID 라는 행' 을 찾다가 KeyError, 혹은 0번 행이 사라진다. 열을 지울 땐 axis=1 또는 columns= 를 쓴다.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 / 47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df.drop(columns=[…]) — 열을 버린다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2468880"/>
          </a:xfrm>
          <a:prstGeom prst="roundRect">
            <a:avLst>
              <a:gd name="adj" fmla="val 2963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98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5000"/>
              </a:lnSpc>
              <a:buNone/>
            </a:pPr>
            <a:r>
              <a:rPr lang="en-US" sz="109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pandas </a:t>
            </a:r>
            <a:pPr indent="0" marL="0">
              <a:lnSpc>
                <a:spcPct val="115000"/>
              </a:lnSpc>
              <a:buNone/>
            </a:pPr>
            <a:r>
              <a:rPr lang="en-US" sz="1098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15000"/>
              </a:lnSpc>
              <a:buNone/>
            </a:pPr>
            <a:r>
              <a:rPr lang="en-US" sz="109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pd</a:t>
            </a:r>
            <a:pPr indent="0" marL="0">
              <a:lnSpc>
                <a:spcPct val="115000"/>
              </a:lnSpc>
              <a:buNone/>
            </a:pPr>
            <a:endParaRPr lang="en-US" sz="109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pd.DataFrame({</a:t>
            </a:r>
            <a:pPr indent="0" marL="0">
              <a:lnSpc>
                <a:spcPct val="115000"/>
              </a:lnSpc>
              <a:buNone/>
            </a:pPr>
            <a:endParaRPr lang="en-US" sz="109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098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'유저ID'</a:t>
            </a:r>
            <a:pPr indent="0" marL="0">
              <a:lnSpc>
                <a:spcPct val="115000"/>
              </a:lnSpc>
              <a:buNone/>
            </a:pPr>
            <a:r>
              <a:rPr lang="en-US" sz="109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pPr indent="0" marL="0">
              <a:lnSpc>
                <a:spcPct val="115000"/>
              </a:lnSpc>
              <a:buNone/>
            </a:pPr>
            <a:r>
              <a:rPr lang="en-US" sz="1098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'u01'</a:t>
            </a:r>
            <a:pPr indent="0" marL="0">
              <a:lnSpc>
                <a:spcPct val="115000"/>
              </a:lnSpc>
              <a:buNone/>
            </a:pPr>
            <a:r>
              <a:rPr lang="en-US" sz="109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098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'u02'</a:t>
            </a:r>
            <a:pPr indent="0" marL="0">
              <a:lnSpc>
                <a:spcPct val="115000"/>
              </a:lnSpc>
              <a:buNone/>
            </a:pPr>
            <a:r>
              <a:rPr lang="en-US" sz="109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098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'u03'</a:t>
            </a:r>
            <a:pPr indent="0" marL="0">
              <a:lnSpc>
                <a:spcPct val="115000"/>
              </a:lnSpc>
              <a:buNone/>
            </a:pPr>
            <a:r>
              <a:rPr lang="en-US" sz="109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098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'u04'</a:t>
            </a:r>
            <a:pPr indent="0" marL="0">
              <a:lnSpc>
                <a:spcPct val="115000"/>
              </a:lnSpc>
              <a:buNone/>
            </a:pPr>
            <a:r>
              <a:rPr lang="en-US" sz="109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098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'u05'</a:t>
            </a:r>
            <a:pPr indent="0" marL="0">
              <a:lnSpc>
                <a:spcPct val="115000"/>
              </a:lnSpc>
              <a:buNone/>
            </a:pPr>
            <a:r>
              <a:rPr lang="en-US" sz="109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pPr indent="0" marL="0">
              <a:lnSpc>
                <a:spcPct val="115000"/>
              </a:lnSpc>
              <a:buNone/>
            </a:pPr>
            <a:endParaRPr lang="en-US" sz="109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098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'티어'</a:t>
            </a:r>
            <a:pPr indent="0" marL="0">
              <a:lnSpc>
                <a:spcPct val="115000"/>
              </a:lnSpc>
              <a:buNone/>
            </a:pPr>
            <a:r>
              <a:rPr lang="en-US" sz="109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pPr indent="0" marL="0">
              <a:lnSpc>
                <a:spcPct val="115000"/>
              </a:lnSpc>
              <a:buNone/>
            </a:pPr>
            <a:r>
              <a:rPr lang="en-US" sz="1098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'골드'</a:t>
            </a:r>
            <a:pPr indent="0" marL="0">
              <a:lnSpc>
                <a:spcPct val="115000"/>
              </a:lnSpc>
              <a:buNone/>
            </a:pPr>
            <a:r>
              <a:rPr lang="en-US" sz="109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098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'실버'</a:t>
            </a:r>
            <a:pPr indent="0" marL="0">
              <a:lnSpc>
                <a:spcPct val="115000"/>
              </a:lnSpc>
              <a:buNone/>
            </a:pPr>
            <a:r>
              <a:rPr lang="en-US" sz="109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098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'골드'</a:t>
            </a:r>
            <a:pPr indent="0" marL="0">
              <a:lnSpc>
                <a:spcPct val="115000"/>
              </a:lnSpc>
              <a:buNone/>
            </a:pPr>
            <a:r>
              <a:rPr lang="en-US" sz="109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098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'브론즈'</a:t>
            </a:r>
            <a:pPr indent="0" marL="0">
              <a:lnSpc>
                <a:spcPct val="115000"/>
              </a:lnSpc>
              <a:buNone/>
            </a:pPr>
            <a:r>
              <a:rPr lang="en-US" sz="109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098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'실버'</a:t>
            </a:r>
            <a:pPr indent="0" marL="0">
              <a:lnSpc>
                <a:spcPct val="115000"/>
              </a:lnSpc>
              <a:buNone/>
            </a:pPr>
            <a:r>
              <a:rPr lang="en-US" sz="109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pPr indent="0" marL="0">
              <a:lnSpc>
                <a:spcPct val="115000"/>
              </a:lnSpc>
              <a:buNone/>
            </a:pPr>
            <a:endParaRPr lang="en-US" sz="109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098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'승률'</a:t>
            </a:r>
            <a:pPr indent="0" marL="0">
              <a:lnSpc>
                <a:spcPct val="115000"/>
              </a:lnSpc>
              <a:buNone/>
            </a:pPr>
            <a:r>
              <a:rPr lang="en-US" sz="109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[58, 47, 61, 39, 52],</a:t>
            </a:r>
            <a:pPr indent="0" marL="0">
              <a:lnSpc>
                <a:spcPct val="115000"/>
              </a:lnSpc>
              <a:buNone/>
            </a:pPr>
            <a:endParaRPr lang="en-US" sz="109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098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'KDA'</a:t>
            </a:r>
            <a:pPr indent="0" marL="0">
              <a:lnSpc>
                <a:spcPct val="115000"/>
              </a:lnSpc>
              <a:buNone/>
            </a:pPr>
            <a:r>
              <a:rPr lang="en-US" sz="109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[3.2, 2.1, 3.8, 1.5, 2.6]</a:t>
            </a:r>
            <a:pPr indent="0" marL="0">
              <a:lnSpc>
                <a:spcPct val="115000"/>
              </a:lnSpc>
              <a:buNone/>
            </a:pPr>
            <a:endParaRPr lang="en-US" sz="109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pPr indent="0" marL="0">
              <a:lnSpc>
                <a:spcPct val="115000"/>
              </a:lnSpc>
              <a:buNone/>
            </a:pPr>
            <a:endParaRPr lang="en-US" sz="109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df.drop(columns=[</a:t>
            </a:r>
            <a:pPr indent="0" marL="0">
              <a:lnSpc>
                <a:spcPct val="115000"/>
              </a:lnSpc>
              <a:buNone/>
            </a:pPr>
            <a:r>
              <a:rPr lang="en-US" sz="1098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'유저ID'</a:t>
            </a:r>
            <a:pPr indent="0" marL="0">
              <a:lnSpc>
                <a:spcPct val="115000"/>
              </a:lnSpc>
              <a:buNone/>
            </a:pPr>
            <a:r>
              <a:rPr lang="en-US" sz="109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       </a:t>
            </a:r>
            <a:pPr indent="0" marL="0">
              <a:lnSpc>
                <a:spcPct val="115000"/>
              </a:lnSpc>
              <a:buNone/>
            </a:pPr>
            <a:r>
              <a:rPr lang="en-US" sz="1098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방법 1</a:t>
            </a:r>
            <a:pPr indent="0" marL="0">
              <a:lnSpc>
                <a:spcPct val="115000"/>
              </a:lnSpc>
              <a:buNone/>
            </a:pPr>
            <a:endParaRPr lang="en-US" sz="109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8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df = df.drop('유저ID', axis=1)        # 방법 2 (같은 뜻)</a:t>
            </a:r>
            <a:pPr indent="0" marL="0">
              <a:lnSpc>
                <a:spcPct val="115000"/>
              </a:lnSpc>
              <a:buNone/>
            </a:pPr>
            <a:endParaRPr lang="en-US" sz="109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8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09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(df.columns.tolist())</a:t>
            </a:r>
            <a:endParaRPr lang="en-US" sz="1098" dirty="0"/>
          </a:p>
        </p:txBody>
      </p:sp>
      <p:sp>
        <p:nvSpPr>
          <p:cNvPr id="6" name="Shape 4"/>
          <p:cNvSpPr/>
          <p:nvPr/>
        </p:nvSpPr>
        <p:spPr>
          <a:xfrm>
            <a:off x="457200" y="3977640"/>
            <a:ext cx="5120640" cy="685800"/>
          </a:xfrm>
          <a:prstGeom prst="roundRect">
            <a:avLst>
              <a:gd name="adj" fmla="val 10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40507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4306824"/>
            <a:ext cx="4791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6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['티어', '승률', 'KDA']</a:t>
            </a:r>
            <a:endParaRPr lang="en-US" sz="761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29184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columns=['a', 'b'] — 리스트로 여러 개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axis=0 은 행, axis=1 은 열. columns= 를 쓰면 axis 불필요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결과를 df = 로 받는다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없는 열이면 KeyError → errors='ignore'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 / 47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df.rename(columns={옛: 새}) — 이름을 바꾼다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6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df.rename(columns={</a:t>
            </a:r>
            <a:pPr indent="0" marL="0">
              <a:lnSpc>
                <a:spcPct val="115000"/>
              </a:lnSpc>
              <a:buNone/>
            </a:pPr>
            <a:r>
              <a:rPr lang="en-US" sz="1069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'승률'</a:t>
            </a:r>
            <a:pPr indent="0" marL="0">
              <a:lnSpc>
                <a:spcPct val="115000"/>
              </a:lnSpc>
              <a:buNone/>
            </a:pPr>
            <a:r>
              <a:rPr lang="en-US" sz="106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5000"/>
              </a:lnSpc>
              <a:buNone/>
            </a:pPr>
            <a:r>
              <a:rPr lang="en-US" sz="1069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'win_rate'</a:t>
            </a:r>
            <a:pPr indent="0" marL="0">
              <a:lnSpc>
                <a:spcPct val="115000"/>
              </a:lnSpc>
              <a:buNone/>
            </a:pPr>
            <a:r>
              <a:rPr lang="en-US" sz="106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069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'KDA'</a:t>
            </a:r>
            <a:pPr indent="0" marL="0">
              <a:lnSpc>
                <a:spcPct val="115000"/>
              </a:lnSpc>
              <a:buNone/>
            </a:pPr>
            <a:r>
              <a:rPr lang="en-US" sz="106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5000"/>
              </a:lnSpc>
              <a:buNone/>
            </a:pPr>
            <a:r>
              <a:rPr lang="en-US" sz="1069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'kda'</a:t>
            </a:r>
            <a:pPr indent="0" marL="0">
              <a:lnSpc>
                <a:spcPct val="115000"/>
              </a:lnSpc>
              <a:buNone/>
            </a:pPr>
            <a:r>
              <a:rPr lang="en-US" sz="106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pPr indent="0" marL="0">
              <a:lnSpc>
                <a:spcPct val="115000"/>
              </a:lnSpc>
              <a:buNone/>
            </a:pPr>
            <a:endParaRPr lang="en-US" sz="106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69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06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(df.columns.tolist())</a:t>
            </a:r>
            <a:pPr indent="0" marL="0">
              <a:lnSpc>
                <a:spcPct val="115000"/>
              </a:lnSpc>
              <a:buNone/>
            </a:pPr>
            <a:endParaRPr lang="en-US" sz="1069" dirty="0"/>
          </a:p>
          <a:p>
            <a:pPr indent="0" marL="0">
              <a:lnSpc>
                <a:spcPct val="115000"/>
              </a:lnSpc>
              <a:buNone/>
            </a:pPr>
            <a:endParaRPr lang="en-US" sz="106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69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전부 한 번에 바꾸기 (개수가 같아야 한다)</a:t>
            </a:r>
            <a:pPr indent="0" marL="0">
              <a:lnSpc>
                <a:spcPct val="115000"/>
              </a:lnSpc>
              <a:buNone/>
            </a:pPr>
            <a:endParaRPr lang="en-US" sz="106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6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df.columns = [</a:t>
            </a:r>
            <a:pPr indent="0" marL="0">
              <a:lnSpc>
                <a:spcPct val="115000"/>
              </a:lnSpc>
              <a:buNone/>
            </a:pPr>
            <a:r>
              <a:rPr lang="en-US" sz="1069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'tier'</a:t>
            </a:r>
            <a:pPr indent="0" marL="0">
              <a:lnSpc>
                <a:spcPct val="115000"/>
              </a:lnSpc>
              <a:buNone/>
            </a:pPr>
            <a:r>
              <a:rPr lang="en-US" sz="106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069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'win_rate'</a:t>
            </a:r>
            <a:pPr indent="0" marL="0">
              <a:lnSpc>
                <a:spcPct val="115000"/>
              </a:lnSpc>
              <a:buNone/>
            </a:pPr>
            <a:r>
              <a:rPr lang="en-US" sz="106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069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'kda'</a:t>
            </a:r>
            <a:pPr indent="0" marL="0">
              <a:lnSpc>
                <a:spcPct val="115000"/>
              </a:lnSpc>
              <a:buNone/>
            </a:pPr>
            <a:r>
              <a:rPr lang="en-US" sz="106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69" dirty="0"/>
          </a:p>
        </p:txBody>
      </p:sp>
      <p:sp>
        <p:nvSpPr>
          <p:cNvPr id="6" name="Shape 4"/>
          <p:cNvSpPr/>
          <p:nvPr/>
        </p:nvSpPr>
        <p:spPr>
          <a:xfrm>
            <a:off x="457200" y="3337560"/>
            <a:ext cx="5120640" cy="685800"/>
          </a:xfrm>
          <a:prstGeom prst="roundRect">
            <a:avLst>
              <a:gd name="adj" fmla="val 10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4107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666744"/>
            <a:ext cx="4791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6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['티어', 'win_rate', 'kda']</a:t>
            </a:r>
            <a:endParaRPr lang="en-US" sz="761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중괄호 딕셔너리 {'옛이름': '새이름'}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없는 이름은 조용히 무시된다 — 오타를 조심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시험은 '열 이름을 ○○로 바꾸시오' 를 그대로 rename 으로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df.columns = 리스트 는 전체 교체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 / 47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axis=0 과 axis=1 — 한 번 보면 안 헷갈린다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364845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7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df.drop(0, axis=0)          </a:t>
            </a:r>
            <a:pPr indent="0" marL="0">
              <a:lnSpc>
                <a:spcPct val="115000"/>
              </a:lnSpc>
              <a:buNone/>
            </a:pPr>
            <a:r>
              <a:rPr lang="en-US" sz="973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0번 행 삭제 (기본값)</a:t>
            </a:r>
            <a:pPr indent="0" marL="0">
              <a:lnSpc>
                <a:spcPct val="115000"/>
              </a:lnSpc>
              <a:buNone/>
            </a:pPr>
            <a:endParaRPr lang="en-US" sz="97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7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df.drop(index=[0, 1])       </a:t>
            </a:r>
            <a:pPr indent="0" marL="0">
              <a:lnSpc>
                <a:spcPct val="115000"/>
              </a:lnSpc>
              <a:buNone/>
            </a:pPr>
            <a:r>
              <a:rPr lang="en-US" sz="973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0, 1번 행 삭제</a:t>
            </a:r>
            <a:endParaRPr lang="en-US" sz="973" dirty="0"/>
          </a:p>
        </p:txBody>
      </p:sp>
      <p:sp>
        <p:nvSpPr>
          <p:cNvPr id="6" name="Shape 4"/>
          <p:cNvSpPr/>
          <p:nvPr/>
        </p:nvSpPr>
        <p:spPr>
          <a:xfrm>
            <a:off x="4709160" y="1371600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73752" y="1481328"/>
            <a:ext cx="364845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df.drop(</a:t>
            </a:r>
            <a:pPr indent="0" marL="0">
              <a:lnSpc>
                <a:spcPct val="115000"/>
              </a:lnSpc>
              <a:buNone/>
            </a:pPr>
            <a:r>
              <a:rPr lang="en-US" sz="1055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'KDA'</a:t>
            </a:r>
            <a:pPr indent="0" marL="0">
              <a:lnSpc>
                <a:spcPct val="115000"/>
              </a:lnSpc>
              <a:buNone/>
            </a:pPr>
            <a:r>
              <a:rPr lang="en-US" sz="105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axis=1)      </a:t>
            </a:r>
            <a:pPr indent="0" marL="0">
              <a:lnSpc>
                <a:spcPct val="115000"/>
              </a:lnSpc>
              <a:buNone/>
            </a:pPr>
            <a:r>
              <a:rPr lang="en-US" sz="105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KDA 열 삭제</a:t>
            </a:r>
            <a:pPr indent="0" marL="0">
              <a:lnSpc>
                <a:spcPct val="115000"/>
              </a:lnSpc>
              <a:buNone/>
            </a:pPr>
            <a:endParaRPr lang="en-US" sz="105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df.drop(columns=[</a:t>
            </a:r>
            <a:pPr indent="0" marL="0">
              <a:lnSpc>
                <a:spcPct val="115000"/>
              </a:lnSpc>
              <a:buNone/>
            </a:pPr>
            <a:r>
              <a:rPr lang="en-US" sz="1055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'KDA'</a:t>
            </a:r>
            <a:pPr indent="0" marL="0">
              <a:lnSpc>
                <a:spcPct val="115000"/>
              </a:lnSpc>
              <a:buNone/>
            </a:pPr>
            <a:r>
              <a:rPr lang="en-US" sz="105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    </a:t>
            </a:r>
            <a:pPr indent="0" marL="0">
              <a:lnSpc>
                <a:spcPct val="115000"/>
              </a:lnSpc>
              <a:buNone/>
            </a:pPr>
            <a:r>
              <a:rPr lang="en-US" sz="105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같은 뜻, 더 분명</a:t>
            </a:r>
            <a:endParaRPr lang="en-US" sz="1055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3977640" cy="1920240"/>
          </a:xfrm>
          <a:prstGeom prst="roundRect">
            <a:avLst>
              <a:gd name="adj" fmla="val 4762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9077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axis=0 = 행 방향 (위아래)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291840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인덱스 번호로 행을 지운다. 이상치 행을 지울 때 (29차시).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09160" y="2743200"/>
            <a:ext cx="3977640" cy="1920240"/>
          </a:xfrm>
          <a:prstGeom prst="roundRect">
            <a:avLst>
              <a:gd name="adj" fmla="val 4762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37760" y="29077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axis=1 = 열 방향 (좌우)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3291840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 이름으로 열을 지운다. 실기에서 drop 은 거의 이쪽. columns= 를 쓰면 방향 실수가 없다.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 / 47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실수 3가지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axis 누락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df.drop('KDA') → KeyError: 'KDA' (행에서 찾는다). columns=['KDA'] 로 쓰면 이 실수가 사라진다.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안 받음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drop·rename 모두 새 표를 돌려준다. df = df.drop(…) 이 아니면 df 는 그대로.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rename 오타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{'승율': 'win'} 처럼 옛 이름을 틀리면 에러 없이 아무것도 안 바뀐다. 바꾼 뒤 columns 를 찍어 확인.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1554480"/>
          </a:xfrm>
          <a:prstGeom prst="roundRect">
            <a:avLst>
              <a:gd name="adj" fmla="val 470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218688"/>
            <a:ext cx="790041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df.drop(columns=[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'유저ID'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             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받는다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df.rename(columns={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'승률'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'win_rate'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 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받는다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(df.columns.tolist())                   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확인한다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 / 47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AICE 실기 패턴 — 입력 열 정리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2560320"/>
          </a:xfrm>
          <a:prstGeom prst="roundRect">
            <a:avLst>
              <a:gd name="adj" fmla="val 2857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79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예측에 쓸 수 없는 열 제거: 식별자, 정답 누설 열</a:t>
            </a:r>
            <a:pPr indent="0" marL="0">
              <a:lnSpc>
                <a:spcPct val="115000"/>
              </a:lnSpc>
              <a:buNone/>
            </a:pPr>
            <a:endParaRPr lang="en-US" sz="127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7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drop_cols = [</a:t>
            </a:r>
            <a:pPr indent="0" marL="0">
              <a:lnSpc>
                <a:spcPct val="115000"/>
              </a:lnSpc>
              <a:buNone/>
            </a:pPr>
            <a:r>
              <a:rPr lang="en-US" sz="1279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'유저ID'</a:t>
            </a:r>
            <a:pPr indent="0" marL="0">
              <a:lnSpc>
                <a:spcPct val="115000"/>
              </a:lnSpc>
              <a:buNone/>
            </a:pPr>
            <a:r>
              <a:rPr lang="en-US" sz="127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279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'가입일'</a:t>
            </a:r>
            <a:pPr indent="0" marL="0">
              <a:lnSpc>
                <a:spcPct val="115000"/>
              </a:lnSpc>
              <a:buNone/>
            </a:pPr>
            <a:r>
              <a:rPr lang="en-US" sz="127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279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'결제금액_사후'</a:t>
            </a:r>
            <a:pPr indent="0" marL="0">
              <a:lnSpc>
                <a:spcPct val="115000"/>
              </a:lnSpc>
              <a:buNone/>
            </a:pPr>
            <a:r>
              <a:rPr lang="en-US" sz="127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endParaRPr lang="en-US" sz="127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7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df.drop(columns=drop_cols, errors=</a:t>
            </a:r>
            <a:pPr indent="0" marL="0">
              <a:lnSpc>
                <a:spcPct val="115000"/>
              </a:lnSpc>
              <a:buNone/>
            </a:pPr>
            <a:r>
              <a:rPr lang="en-US" sz="1279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'ignore'</a:t>
            </a:r>
            <a:pPr indent="0" marL="0">
              <a:lnSpc>
                <a:spcPct val="115000"/>
              </a:lnSpc>
              <a:buNone/>
            </a:pPr>
            <a:r>
              <a:rPr lang="en-US" sz="127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1279" dirty="0"/>
          </a:p>
          <a:p>
            <a:pPr indent="0" marL="0">
              <a:lnSpc>
                <a:spcPct val="115000"/>
              </a:lnSpc>
              <a:buNone/>
            </a:pPr>
            <a:endParaRPr lang="en-US" sz="127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79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정답 분리</a:t>
            </a:r>
            <a:pPr indent="0" marL="0">
              <a:lnSpc>
                <a:spcPct val="115000"/>
              </a:lnSpc>
              <a:buNone/>
            </a:pPr>
            <a:endParaRPr lang="en-US" sz="127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7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df[</a:t>
            </a:r>
            <a:pPr indent="0" marL="0">
              <a:lnSpc>
                <a:spcPct val="115000"/>
              </a:lnSpc>
              <a:buNone/>
            </a:pPr>
            <a:r>
              <a:rPr lang="en-US" sz="1279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'승패'</a:t>
            </a:r>
            <a:pPr indent="0" marL="0">
              <a:lnSpc>
                <a:spcPct val="115000"/>
              </a:lnSpc>
              <a:buNone/>
            </a:pPr>
            <a:r>
              <a:rPr lang="en-US" sz="127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endParaRPr lang="en-US" sz="127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7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df.drop(columns=[</a:t>
            </a:r>
            <a:pPr indent="0" marL="0">
              <a:lnSpc>
                <a:spcPct val="115000"/>
              </a:lnSpc>
              <a:buNone/>
            </a:pPr>
            <a:r>
              <a:rPr lang="en-US" sz="1279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'승패'</a:t>
            </a:r>
            <a:pPr indent="0" marL="0">
              <a:lnSpc>
                <a:spcPct val="115000"/>
              </a:lnSpc>
              <a:buNone/>
            </a:pPr>
            <a:r>
              <a:rPr lang="en-US" sz="127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pPr indent="0" marL="0">
              <a:lnSpc>
                <a:spcPct val="115000"/>
              </a:lnSpc>
              <a:buNone/>
            </a:pPr>
            <a:endParaRPr lang="en-US" sz="127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79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27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(X.shape, y.shape)</a:t>
            </a:r>
            <a:endParaRPr lang="en-US" sz="1279" dirty="0"/>
          </a:p>
        </p:txBody>
      </p:sp>
      <p:sp>
        <p:nvSpPr>
          <p:cNvPr id="6" name="Shape 4"/>
          <p:cNvSpPr/>
          <p:nvPr/>
        </p:nvSpPr>
        <p:spPr>
          <a:xfrm>
            <a:off x="457200" y="4069080"/>
            <a:ext cx="5120640" cy="594360"/>
          </a:xfrm>
          <a:prstGeom prst="roundRect">
            <a:avLst>
              <a:gd name="adj" fmla="val 12308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41422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4398264"/>
            <a:ext cx="47914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(1000, 5) (1000,)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29184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버리나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고유 ID — 행마다 다 달라 규칙이 없다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정답을 미리 알려주는 열 — 시험에선 '누설'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결측이 절반 넘는 열 (16차시)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errors='ignore' 는 없는 열이어도 에러 없이.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 / 47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— 앱 19차시 (10분) · 확인 퀴즈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코드 소환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「drop &amp; rename 컬럼 가공 조립」 버튼 → 열 하나를 지우고 old_score 를 새 이름으로 바꾸는 코드가 나타난다.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파라미터 적용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지울 열(유저_고유ID·주민번호_해시·가입IP주소)과 새 이름(최종실기점수 등)을 고르고 「파라미터 적용」. 남을 열 목록을 먼저 말한다.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실행 · 차트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「파이프라인 실행」 → 남은 핵심 열 비중 차트. 지운 열이 왜 예측에 쓸모없는지 한 줄로 설명해 본다.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열 'KDA' 를 지우는 두 가지 식은?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4472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df.drop('KDA', axis=1) / df.drop(columns=['KDA'])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977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rename 에서 옛 이름을 틀리면?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270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에러 없이 아무것도 안 바뀐다 — 확인 필요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 / 47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19차시 정리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열은 columns= 로 지우고, 이름은 딕셔너리로 바꾼다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691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df.drop(columns=['열']) — axis=1 과 같다. 행은 index=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377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df.rename(columns={'옛': '새'}) — 오타는 조용히 무시된다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0632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 df = 로 받고, columns 를 찍어 확인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749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실기 패턴: ID·누설 열 drop → X = df.drop(columns=['타깃'])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→ 20차시 astype · to_datetime — 굳은 글자를 숫자·날짜로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 / 47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20차시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타입 강제 형변환과 무결성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숫자가 글자로 굳어 있거나 날짜가 문자열일 때 — astype 과 to_datetime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df.astype()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1188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4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pd.to_datetime()</a:t>
            </a:r>
            <a:endParaRPr lang="en-US" sz="1742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 / 47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배우면 AICE에서 이렇게 쓴다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object 숫자 열 고치기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info 에서 '나이' 가 object 면 df['나이'] = df['나이'].astype('int32'). 안 고치면 fit 에서 에러.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 열 만들기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pd.to_datetime(df['date']) 로 바꿔야 연·월·요일을 뽑아 파생변수를 만든다.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1821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막을 사고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5661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astype('int') 는 결측(NaN)이 있으면 실패한다 (NaN 은 실수). 18차시로 먼저 채우거나 'float' 로 바꾼다. 순서: 결측 처리 → 형변환.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 / 47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astype('타입') — 열 전체를 한 번에 바꾼다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2057400"/>
          </a:xfrm>
          <a:prstGeom prst="roundRect">
            <a:avLst>
              <a:gd name="adj" fmla="val 355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2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pd.DataFrame({</a:t>
            </a:r>
            <a:pPr indent="0" marL="0">
              <a:lnSpc>
                <a:spcPct val="115000"/>
              </a:lnSpc>
              <a:buNone/>
            </a:pPr>
            <a:r>
              <a:rPr lang="en-US" sz="82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'나이'</a:t>
            </a:r>
            <a:pPr indent="0" marL="0">
              <a:lnSpc>
                <a:spcPct val="115000"/>
              </a:lnSpc>
              <a:buNone/>
            </a:pPr>
            <a:r>
              <a:rPr lang="en-US" sz="82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pPr indent="0" marL="0">
              <a:lnSpc>
                <a:spcPct val="115000"/>
              </a:lnSpc>
              <a:buNone/>
            </a:pPr>
            <a:r>
              <a:rPr lang="en-US" sz="82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'23'</a:t>
            </a:r>
            <a:pPr indent="0" marL="0">
              <a:lnSpc>
                <a:spcPct val="115000"/>
              </a:lnSpc>
              <a:buNone/>
            </a:pPr>
            <a:r>
              <a:rPr lang="en-US" sz="82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82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'31'</a:t>
            </a:r>
            <a:pPr indent="0" marL="0">
              <a:lnSpc>
                <a:spcPct val="115000"/>
              </a:lnSpc>
              <a:buNone/>
            </a:pPr>
            <a:r>
              <a:rPr lang="en-US" sz="82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82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'27'</a:t>
            </a:r>
            <a:pPr indent="0" marL="0">
              <a:lnSpc>
                <a:spcPct val="115000"/>
              </a:lnSpc>
              <a:buNone/>
            </a:pPr>
            <a:r>
              <a:rPr lang="en-US" sz="82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</a:t>
            </a:r>
            <a:pPr indent="0" marL="0">
              <a:lnSpc>
                <a:spcPct val="115000"/>
              </a:lnSpc>
              <a:buNone/>
            </a:pPr>
            <a:r>
              <a:rPr lang="en-US" sz="82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'구매수량'</a:t>
            </a:r>
            <a:pPr indent="0" marL="0">
              <a:lnSpc>
                <a:spcPct val="115000"/>
              </a:lnSpc>
              <a:buNone/>
            </a:pPr>
            <a:r>
              <a:rPr lang="en-US" sz="82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pPr indent="0" marL="0">
              <a:lnSpc>
                <a:spcPct val="115000"/>
              </a:lnSpc>
              <a:buNone/>
            </a:pPr>
            <a:r>
              <a:rPr lang="en-US" sz="82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'2'</a:t>
            </a:r>
            <a:pPr indent="0" marL="0">
              <a:lnSpc>
                <a:spcPct val="115000"/>
              </a:lnSpc>
              <a:buNone/>
            </a:pPr>
            <a:r>
              <a:rPr lang="en-US" sz="82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82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'5'</a:t>
            </a:r>
            <a:pPr indent="0" marL="0">
              <a:lnSpc>
                <a:spcPct val="115000"/>
              </a:lnSpc>
              <a:buNone/>
            </a:pPr>
            <a:r>
              <a:rPr lang="en-US" sz="82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82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'1'</a:t>
            </a:r>
            <a:pPr indent="0" marL="0">
              <a:lnSpc>
                <a:spcPct val="115000"/>
              </a:lnSpc>
              <a:buNone/>
            </a:pPr>
            <a:r>
              <a:rPr lang="en-US" sz="82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]})</a:t>
            </a:r>
            <a:pPr indent="0" marL="0">
              <a:lnSpc>
                <a:spcPct val="115000"/>
              </a:lnSpc>
              <a:buNone/>
            </a:pPr>
            <a:endParaRPr lang="en-US" sz="82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2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82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(df.dtypes)</a:t>
            </a:r>
            <a:pPr indent="0" marL="0">
              <a:lnSpc>
                <a:spcPct val="115000"/>
              </a:lnSpc>
              <a:buNone/>
            </a:pPr>
            <a:endParaRPr lang="en-US" sz="82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2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pPr indent="0" marL="0">
              <a:lnSpc>
                <a:spcPct val="115000"/>
              </a:lnSpc>
              <a:buNone/>
            </a:pPr>
            <a:r>
              <a:rPr lang="en-US" sz="82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'나이'</a:t>
            </a:r>
            <a:pPr indent="0" marL="0">
              <a:lnSpc>
                <a:spcPct val="115000"/>
              </a:lnSpc>
              <a:buNone/>
            </a:pPr>
            <a:r>
              <a:rPr lang="en-US" sz="82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df[</a:t>
            </a:r>
            <a:pPr indent="0" marL="0">
              <a:lnSpc>
                <a:spcPct val="115000"/>
              </a:lnSpc>
              <a:buNone/>
            </a:pPr>
            <a:r>
              <a:rPr lang="en-US" sz="82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'나이'</a:t>
            </a:r>
            <a:pPr indent="0" marL="0">
              <a:lnSpc>
                <a:spcPct val="115000"/>
              </a:lnSpc>
              <a:buNone/>
            </a:pPr>
            <a:r>
              <a:rPr lang="en-US" sz="82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].astype(</a:t>
            </a:r>
            <a:pPr indent="0" marL="0">
              <a:lnSpc>
                <a:spcPct val="115000"/>
              </a:lnSpc>
              <a:buNone/>
            </a:pPr>
            <a:r>
              <a:rPr lang="en-US" sz="82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'int32'</a:t>
            </a:r>
            <a:pPr indent="0" marL="0">
              <a:lnSpc>
                <a:spcPct val="115000"/>
              </a:lnSpc>
              <a:buNone/>
            </a:pPr>
            <a:r>
              <a:rPr lang="en-US" sz="82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82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2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pPr indent="0" marL="0">
              <a:lnSpc>
                <a:spcPct val="115000"/>
              </a:lnSpc>
              <a:buNone/>
            </a:pPr>
            <a:r>
              <a:rPr lang="en-US" sz="82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'구매수량'</a:t>
            </a:r>
            <a:pPr indent="0" marL="0">
              <a:lnSpc>
                <a:spcPct val="115000"/>
              </a:lnSpc>
              <a:buNone/>
            </a:pPr>
            <a:r>
              <a:rPr lang="en-US" sz="82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df[</a:t>
            </a:r>
            <a:pPr indent="0" marL="0">
              <a:lnSpc>
                <a:spcPct val="115000"/>
              </a:lnSpc>
              <a:buNone/>
            </a:pPr>
            <a:r>
              <a:rPr lang="en-US" sz="82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'구매수량'</a:t>
            </a:r>
            <a:pPr indent="0" marL="0">
              <a:lnSpc>
                <a:spcPct val="115000"/>
              </a:lnSpc>
              <a:buNone/>
            </a:pPr>
            <a:r>
              <a:rPr lang="en-US" sz="82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].astype(</a:t>
            </a:r>
            <a:pPr indent="0" marL="0">
              <a:lnSpc>
                <a:spcPct val="115000"/>
              </a:lnSpc>
              <a:buNone/>
            </a:pPr>
            <a:r>
              <a:rPr lang="en-US" sz="82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'int32'</a:t>
            </a:r>
            <a:pPr indent="0" marL="0">
              <a:lnSpc>
                <a:spcPct val="115000"/>
              </a:lnSpc>
              <a:buNone/>
            </a:pPr>
            <a:r>
              <a:rPr lang="en-US" sz="82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82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2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82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(df.dtypes)</a:t>
            </a:r>
            <a:pPr indent="0" marL="0">
              <a:lnSpc>
                <a:spcPct val="115000"/>
              </a:lnSpc>
              <a:buNone/>
            </a:pPr>
            <a:endParaRPr lang="en-US" sz="82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2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82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(df[</a:t>
            </a:r>
            <a:pPr indent="0" marL="0">
              <a:lnSpc>
                <a:spcPct val="115000"/>
              </a:lnSpc>
              <a:buNone/>
            </a:pPr>
            <a:r>
              <a:rPr lang="en-US" sz="82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'나이'</a:t>
            </a:r>
            <a:pPr indent="0" marL="0">
              <a:lnSpc>
                <a:spcPct val="115000"/>
              </a:lnSpc>
              <a:buNone/>
            </a:pPr>
            <a:r>
              <a:rPr lang="en-US" sz="82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].mean())        </a:t>
            </a:r>
            <a:pPr indent="0" marL="0">
              <a:lnSpc>
                <a:spcPct val="115000"/>
              </a:lnSpc>
              <a:buNone/>
            </a:pPr>
            <a:r>
              <a:rPr lang="en-US" sz="827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이제 계산이 된다</a:t>
            </a:r>
            <a:endParaRPr lang="en-US" sz="827" dirty="0"/>
          </a:p>
        </p:txBody>
      </p:sp>
      <p:sp>
        <p:nvSpPr>
          <p:cNvPr id="6" name="Shape 4"/>
          <p:cNvSpPr/>
          <p:nvPr/>
        </p:nvSpPr>
        <p:spPr>
          <a:xfrm>
            <a:off x="457200" y="352044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593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849624"/>
            <a:ext cx="47914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1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나이      object</a:t>
            </a:r>
            <a:endParaRPr lang="en-US" sz="71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1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구매수량    object</a:t>
            </a:r>
            <a:endParaRPr lang="en-US" sz="71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1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나이      int32</a:t>
            </a:r>
            <a:endParaRPr lang="en-US" sz="71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1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구매수량    int32</a:t>
            </a:r>
            <a:endParaRPr lang="en-US" sz="71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1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27.0</a:t>
            </a:r>
            <a:endParaRPr lang="en-US" sz="710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2차시 int() 의 열 버전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'int32' 'int64' 'float32' 'float64' 'str'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object = 글자. 계산이 안 된다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결과를 다시 대입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바꾼 뒤 dtypes 로 확인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 / 47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pd.to_datetime() — 글자를 날짜로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pd.DataFrame({</a:t>
            </a:r>
            <a:pPr indent="0" marL="0">
              <a:lnSpc>
                <a:spcPct val="115000"/>
              </a:lnSpc>
              <a:buNone/>
            </a:pPr>
            <a:r>
              <a:rPr lang="en-US" sz="953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'date'</a:t>
            </a:r>
            <a:pPr indent="0" marL="0">
              <a:lnSpc>
                <a:spcPct val="115000"/>
              </a:lnSpc>
              <a:buNone/>
            </a:pPr>
            <a:r>
              <a:rPr lang="en-US" sz="95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pPr indent="0" marL="0">
              <a:lnSpc>
                <a:spcPct val="115000"/>
              </a:lnSpc>
              <a:buNone/>
            </a:pPr>
            <a:r>
              <a:rPr lang="en-US" sz="953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'2026-03-01'</a:t>
            </a:r>
            <a:pPr indent="0" marL="0">
              <a:lnSpc>
                <a:spcPct val="115000"/>
              </a:lnSpc>
              <a:buNone/>
            </a:pPr>
            <a:r>
              <a:rPr lang="en-US" sz="95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953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'2026-03-15'</a:t>
            </a:r>
            <a:pPr indent="0" marL="0">
              <a:lnSpc>
                <a:spcPct val="115000"/>
              </a:lnSpc>
              <a:buNone/>
            </a:pPr>
            <a:r>
              <a:rPr lang="en-US" sz="95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953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'없음'</a:t>
            </a:r>
            <a:pPr indent="0" marL="0">
              <a:lnSpc>
                <a:spcPct val="115000"/>
              </a:lnSpc>
              <a:buNone/>
            </a:pPr>
            <a:r>
              <a:rPr lang="en-US" sz="95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]})</a:t>
            </a:r>
            <a:pPr indent="0" marL="0">
              <a:lnSpc>
                <a:spcPct val="115000"/>
              </a:lnSpc>
              <a:buNone/>
            </a:pPr>
            <a:endParaRPr lang="en-US" sz="95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pPr indent="0" marL="0">
              <a:lnSpc>
                <a:spcPct val="115000"/>
              </a:lnSpc>
              <a:buNone/>
            </a:pPr>
            <a:r>
              <a:rPr lang="en-US" sz="953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'date'</a:t>
            </a:r>
            <a:pPr indent="0" marL="0">
              <a:lnSpc>
                <a:spcPct val="115000"/>
              </a:lnSpc>
              <a:buNone/>
            </a:pPr>
            <a:r>
              <a:rPr lang="en-US" sz="95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pd.to_datetime(df[</a:t>
            </a:r>
            <a:pPr indent="0" marL="0">
              <a:lnSpc>
                <a:spcPct val="115000"/>
              </a:lnSpc>
              <a:buNone/>
            </a:pPr>
            <a:r>
              <a:rPr lang="en-US" sz="953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'date'</a:t>
            </a:r>
            <a:pPr indent="0" marL="0">
              <a:lnSpc>
                <a:spcPct val="115000"/>
              </a:lnSpc>
              <a:buNone/>
            </a:pPr>
            <a:r>
              <a:rPr lang="en-US" sz="95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errors=</a:t>
            </a:r>
            <a:pPr indent="0" marL="0">
              <a:lnSpc>
                <a:spcPct val="115000"/>
              </a:lnSpc>
              <a:buNone/>
            </a:pPr>
            <a:r>
              <a:rPr lang="en-US" sz="953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'coerce'</a:t>
            </a:r>
            <a:pPr indent="0" marL="0">
              <a:lnSpc>
                <a:spcPct val="115000"/>
              </a:lnSpc>
              <a:buNone/>
            </a:pPr>
            <a:r>
              <a:rPr lang="en-US" sz="95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95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3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95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(df[</a:t>
            </a:r>
            <a:pPr indent="0" marL="0">
              <a:lnSpc>
                <a:spcPct val="115000"/>
              </a:lnSpc>
              <a:buNone/>
            </a:pPr>
            <a:r>
              <a:rPr lang="en-US" sz="953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'date'</a:t>
            </a:r>
            <a:pPr indent="0" marL="0">
              <a:lnSpc>
                <a:spcPct val="115000"/>
              </a:lnSpc>
              <a:buNone/>
            </a:pPr>
            <a:r>
              <a:rPr lang="en-US" sz="95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pPr indent="0" marL="0">
              <a:lnSpc>
                <a:spcPct val="115000"/>
              </a:lnSpc>
              <a:buNone/>
            </a:pPr>
            <a:endParaRPr lang="en-US" sz="95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3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95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(df[</a:t>
            </a:r>
            <a:pPr indent="0" marL="0">
              <a:lnSpc>
                <a:spcPct val="115000"/>
              </a:lnSpc>
              <a:buNone/>
            </a:pPr>
            <a:r>
              <a:rPr lang="en-US" sz="953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'date'</a:t>
            </a:r>
            <a:pPr indent="0" marL="0">
              <a:lnSpc>
                <a:spcPct val="115000"/>
              </a:lnSpc>
              <a:buNone/>
            </a:pPr>
            <a:r>
              <a:rPr lang="en-US" sz="95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].dt.month)        </a:t>
            </a:r>
            <a:pPr indent="0" marL="0">
              <a:lnSpc>
                <a:spcPct val="115000"/>
              </a:lnSpc>
              <a:buNone/>
            </a:pPr>
            <a:r>
              <a:rPr lang="en-US" sz="953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월만 뽑기</a:t>
            </a:r>
            <a:endParaRPr lang="en-US" sz="953" dirty="0"/>
          </a:p>
        </p:txBody>
      </p:sp>
      <p:sp>
        <p:nvSpPr>
          <p:cNvPr id="6" name="Shape 4"/>
          <p:cNvSpPr/>
          <p:nvPr/>
        </p:nvSpPr>
        <p:spPr>
          <a:xfrm>
            <a:off x="457200" y="324612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3192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575304"/>
            <a:ext cx="47914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24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 2026-03-01</a:t>
            </a:r>
            <a:endParaRPr lang="en-US" sz="72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24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2026-03-15</a:t>
            </a:r>
            <a:endParaRPr lang="en-US" sz="72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24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       NaT</a:t>
            </a:r>
            <a:endParaRPr lang="en-US" sz="72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24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date, dtype: datetime64[ns]</a:t>
            </a:r>
            <a:endParaRPr lang="en-US" sz="72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24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0    3.0</a:t>
            </a:r>
            <a:endParaRPr lang="en-US" sz="72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24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1    3.0</a:t>
            </a:r>
            <a:endParaRPr lang="en-US" sz="72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24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 NaN</a:t>
            </a:r>
            <a:endParaRPr lang="en-US" sz="724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errors='coerce' — 못 바꾸는 값은 NaT(날짜의 NaN)로. 없으면 에러로 멈춤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바꾸고 나면 .dt.year .dt.month .dt.dayofweek 로 파생변수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글자 그대로면 '2026-03' 비교·정렬이 안 된다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 / 47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결측이 있는 열은 int 로 못 바꾼다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280160"/>
          </a:xfrm>
          <a:prstGeom prst="roundRect">
            <a:avLst>
              <a:gd name="adj" fmla="val 5714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36484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pd.Series([</a:t>
            </a:r>
            <a:pPr indent="0" marL="0">
              <a:lnSpc>
                <a:spcPct val="115000"/>
              </a:lnSpc>
              <a:buNone/>
            </a:pPr>
            <a:r>
              <a:rPr lang="en-US" sz="95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'23'</a:t>
            </a:r>
            <a:pPr indent="0" marL="0">
              <a:lnSpc>
                <a:spcPct val="115000"/>
              </a:lnSpc>
              <a:buNone/>
            </a:pPr>
            <a:r>
              <a:rPr lang="en-US" sz="95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95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lnSpc>
                <a:spcPct val="115000"/>
              </a:lnSpc>
              <a:buNone/>
            </a:pPr>
            <a:r>
              <a:rPr lang="en-US" sz="95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95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'31'</a:t>
            </a:r>
            <a:pPr indent="0" marL="0">
              <a:lnSpc>
                <a:spcPct val="115000"/>
              </a:lnSpc>
              <a:buNone/>
            </a:pPr>
            <a:r>
              <a:rPr lang="en-US" sz="95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pPr indent="0" marL="0">
              <a:lnSpc>
                <a:spcPct val="115000"/>
              </a:lnSpc>
              <a:buNone/>
            </a:pPr>
            <a:endParaRPr lang="en-US" sz="95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s.astype(</a:t>
            </a:r>
            <a:pPr indent="0" marL="0">
              <a:lnSpc>
                <a:spcPct val="115000"/>
              </a:lnSpc>
              <a:buNone/>
            </a:pPr>
            <a:r>
              <a:rPr lang="en-US" sz="95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'int32'</a:t>
            </a:r>
            <a:pPr indent="0" marL="0">
              <a:lnSpc>
                <a:spcPct val="115000"/>
              </a:lnSpc>
              <a:buNone/>
            </a:pPr>
            <a:r>
              <a:rPr lang="en-US" sz="95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95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ValueError: cannot convert float NaN to integer</a:t>
            </a:r>
            <a:endParaRPr lang="en-US" sz="951" dirty="0"/>
          </a:p>
        </p:txBody>
      </p:sp>
      <p:sp>
        <p:nvSpPr>
          <p:cNvPr id="6" name="Shape 4"/>
          <p:cNvSpPr/>
          <p:nvPr/>
        </p:nvSpPr>
        <p:spPr>
          <a:xfrm>
            <a:off x="4709160" y="1371600"/>
            <a:ext cx="3977640" cy="1280160"/>
          </a:xfrm>
          <a:prstGeom prst="roundRect">
            <a:avLst>
              <a:gd name="adj" fmla="val 5714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73752" y="1481328"/>
            <a:ext cx="36484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s.fillna(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'0'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).astype(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'int32'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먼저 채운다</a:t>
            </a:r>
            <a:pPr indent="0" marL="0">
              <a:lnSpc>
                <a:spcPct val="115000"/>
              </a:lnSpc>
              <a:buNone/>
            </a:pP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또는</a:t>
            </a:r>
            <a:pPr indent="0" marL="0">
              <a:lnSpc>
                <a:spcPct val="115000"/>
              </a:lnSpc>
              <a:buNone/>
            </a:pP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pd.to_numeric(s, errors=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'coerce'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float 로, 못 바꾸면 NaN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3977640" cy="182880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9992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안 되나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383280"/>
            <a:ext cx="3520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NaN 은 실수(float)다. 정수 열에는 NaN 이 들어갈 자리가 없다. 그래서 int 변환이 거부된다.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09160" y="2834640"/>
            <a:ext cx="3977640" cy="182880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37760" y="29992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3383280"/>
            <a:ext cx="3520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isna → 18 fillna → 20 astype. 결측을 먼저 처리하고 형을 바꾼다. 급하면 float 로 바꾸면 NaN 이 살아남는다.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 / 47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실수 3가지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아닌 글자가 섞임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'85점' '1,000' 같은 값이 있으면 astype 이 실패. replace 로 기호를 떼거나 pd.to_numeric(errors='coerce').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 전체 astype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df.astype('int') 는 글자 열까지 바꾸려다 에러. 열 하나씩, 또는 df.astype({'나이': 'int32'}).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to_datetime 형식 미지정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'03/01/2026' 처럼 월·일 순서가 모호하면 format='%m/%d/%Y' 를 준다. 아니면 엉뚱한 날짜가 된다.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1554480"/>
          </a:xfrm>
          <a:prstGeom prst="roundRect">
            <a:avLst>
              <a:gd name="adj" fmla="val 470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218688"/>
            <a:ext cx="790041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pPr indent="0" marL="0">
              <a:lnSpc>
                <a:spcPct val="115000"/>
              </a:lnSpc>
              <a:buNone/>
            </a:pPr>
            <a:r>
              <a:rPr lang="en-US" sz="1305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'금액'</a:t>
            </a:r>
            <a:pPr indent="0" marL="0">
              <a:lnSpc>
                <a:spcPct val="115000"/>
              </a:lnSpc>
              <a:buNone/>
            </a:pPr>
            <a:r>
              <a:rPr lang="en-US" sz="130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df[</a:t>
            </a:r>
            <a:pPr indent="0" marL="0">
              <a:lnSpc>
                <a:spcPct val="115000"/>
              </a:lnSpc>
              <a:buNone/>
            </a:pPr>
            <a:r>
              <a:rPr lang="en-US" sz="1305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'금액'</a:t>
            </a:r>
            <a:pPr indent="0" marL="0">
              <a:lnSpc>
                <a:spcPct val="115000"/>
              </a:lnSpc>
              <a:buNone/>
            </a:pPr>
            <a:r>
              <a:rPr lang="en-US" sz="130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].str.replace(</a:t>
            </a:r>
            <a:pPr indent="0" marL="0">
              <a:lnSpc>
                <a:spcPct val="115000"/>
              </a:lnSpc>
              <a:buNone/>
            </a:pPr>
            <a:r>
              <a:rPr lang="en-US" sz="1305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','</a:t>
            </a:r>
            <a:pPr indent="0" marL="0">
              <a:lnSpc>
                <a:spcPct val="115000"/>
              </a:lnSpc>
              <a:buNone/>
            </a:pPr>
            <a:r>
              <a:rPr lang="en-US" sz="130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305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pPr indent="0" marL="0">
              <a:lnSpc>
                <a:spcPct val="115000"/>
              </a:lnSpc>
              <a:buNone/>
            </a:pPr>
            <a:r>
              <a:rPr lang="en-US" sz="130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).astype(</a:t>
            </a:r>
            <a:pPr indent="0" marL="0">
              <a:lnSpc>
                <a:spcPct val="115000"/>
              </a:lnSpc>
              <a:buNone/>
            </a:pPr>
            <a:r>
              <a:rPr lang="en-US" sz="1305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'int64'</a:t>
            </a:r>
            <a:pPr indent="0" marL="0">
              <a:lnSpc>
                <a:spcPct val="115000"/>
              </a:lnSpc>
              <a:buNone/>
            </a:pPr>
            <a:r>
              <a:rPr lang="en-US" sz="130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</a:t>
            </a:r>
            <a:pPr indent="0" marL="0">
              <a:lnSpc>
                <a:spcPct val="115000"/>
              </a:lnSpc>
              <a:buNone/>
            </a:pPr>
            <a:r>
              <a:rPr lang="en-US" sz="130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'1,000' → 1000</a:t>
            </a:r>
            <a:pPr indent="0" marL="0">
              <a:lnSpc>
                <a:spcPct val="115000"/>
              </a:lnSpc>
              <a:buNone/>
            </a:pPr>
            <a:endParaRPr lang="en-US" sz="130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pPr indent="0" marL="0">
              <a:lnSpc>
                <a:spcPct val="115000"/>
              </a:lnSpc>
              <a:buNone/>
            </a:pPr>
            <a:r>
              <a:rPr lang="en-US" sz="1305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'date'</a:t>
            </a:r>
            <a:pPr indent="0" marL="0">
              <a:lnSpc>
                <a:spcPct val="115000"/>
              </a:lnSpc>
              <a:buNone/>
            </a:pPr>
            <a:r>
              <a:rPr lang="en-US" sz="130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pd.to_datetime(df[</a:t>
            </a:r>
            <a:pPr indent="0" marL="0">
              <a:lnSpc>
                <a:spcPct val="115000"/>
              </a:lnSpc>
              <a:buNone/>
            </a:pPr>
            <a:r>
              <a:rPr lang="en-US" sz="1305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'date'</a:t>
            </a:r>
            <a:pPr indent="0" marL="0">
              <a:lnSpc>
                <a:spcPct val="115000"/>
              </a:lnSpc>
              <a:buNone/>
            </a:pPr>
            <a:r>
              <a:rPr lang="en-US" sz="130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format=</a:t>
            </a:r>
            <a:pPr indent="0" marL="0">
              <a:lnSpc>
                <a:spcPct val="115000"/>
              </a:lnSpc>
              <a:buNone/>
            </a:pPr>
            <a:r>
              <a:rPr lang="en-US" sz="1305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'%Y-%m-%d'</a:t>
            </a:r>
            <a:pPr indent="0" marL="0">
              <a:lnSpc>
                <a:spcPct val="115000"/>
              </a:lnSpc>
              <a:buNone/>
            </a:pPr>
            <a:r>
              <a:rPr lang="en-US" sz="130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5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 / 47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AICE 실기 패턴 — 날짜에서 파생변수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2468880"/>
          </a:xfrm>
          <a:prstGeom prst="roundRect">
            <a:avLst>
              <a:gd name="adj" fmla="val 2963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2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pPr indent="0" marL="0">
              <a:lnSpc>
                <a:spcPct val="115000"/>
              </a:lnSpc>
              <a:buNone/>
            </a:pPr>
            <a:r>
              <a:rPr lang="en-US" sz="82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'date'</a:t>
            </a:r>
            <a:pPr indent="0" marL="0">
              <a:lnSpc>
                <a:spcPct val="115000"/>
              </a:lnSpc>
              <a:buNone/>
            </a:pPr>
            <a:r>
              <a:rPr lang="en-US" sz="82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pd.to_datetime(df[</a:t>
            </a:r>
            <a:pPr indent="0" marL="0">
              <a:lnSpc>
                <a:spcPct val="115000"/>
              </a:lnSpc>
              <a:buNone/>
            </a:pPr>
            <a:r>
              <a:rPr lang="en-US" sz="82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'date'</a:t>
            </a:r>
            <a:pPr indent="0" marL="0">
              <a:lnSpc>
                <a:spcPct val="115000"/>
              </a:lnSpc>
              <a:buNone/>
            </a:pPr>
            <a:r>
              <a:rPr lang="en-US" sz="82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errors=</a:t>
            </a:r>
            <a:pPr indent="0" marL="0">
              <a:lnSpc>
                <a:spcPct val="115000"/>
              </a:lnSpc>
              <a:buNone/>
            </a:pPr>
            <a:r>
              <a:rPr lang="en-US" sz="82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'coerce'</a:t>
            </a:r>
            <a:pPr indent="0" marL="0">
              <a:lnSpc>
                <a:spcPct val="115000"/>
              </a:lnSpc>
              <a:buNone/>
            </a:pPr>
            <a:r>
              <a:rPr lang="en-US" sz="82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82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2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pPr indent="0" marL="0">
              <a:lnSpc>
                <a:spcPct val="115000"/>
              </a:lnSpc>
              <a:buNone/>
            </a:pPr>
            <a:r>
              <a:rPr lang="en-US" sz="82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'year'</a:t>
            </a:r>
            <a:pPr indent="0" marL="0">
              <a:lnSpc>
                <a:spcPct val="115000"/>
              </a:lnSpc>
              <a:buNone/>
            </a:pPr>
            <a:r>
              <a:rPr lang="en-US" sz="82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df[</a:t>
            </a:r>
            <a:pPr indent="0" marL="0">
              <a:lnSpc>
                <a:spcPct val="115000"/>
              </a:lnSpc>
              <a:buNone/>
            </a:pPr>
            <a:r>
              <a:rPr lang="en-US" sz="82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'date'</a:t>
            </a:r>
            <a:pPr indent="0" marL="0">
              <a:lnSpc>
                <a:spcPct val="115000"/>
              </a:lnSpc>
              <a:buNone/>
            </a:pPr>
            <a:r>
              <a:rPr lang="en-US" sz="82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].dt.year</a:t>
            </a:r>
            <a:pPr indent="0" marL="0">
              <a:lnSpc>
                <a:spcPct val="115000"/>
              </a:lnSpc>
              <a:buNone/>
            </a:pPr>
            <a:endParaRPr lang="en-US" sz="82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2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pPr indent="0" marL="0">
              <a:lnSpc>
                <a:spcPct val="115000"/>
              </a:lnSpc>
              <a:buNone/>
            </a:pPr>
            <a:r>
              <a:rPr lang="en-US" sz="82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'month'</a:t>
            </a:r>
            <a:pPr indent="0" marL="0">
              <a:lnSpc>
                <a:spcPct val="115000"/>
              </a:lnSpc>
              <a:buNone/>
            </a:pPr>
            <a:r>
              <a:rPr lang="en-US" sz="82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df[</a:t>
            </a:r>
            <a:pPr indent="0" marL="0">
              <a:lnSpc>
                <a:spcPct val="115000"/>
              </a:lnSpc>
              <a:buNone/>
            </a:pPr>
            <a:r>
              <a:rPr lang="en-US" sz="82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'date'</a:t>
            </a:r>
            <a:pPr indent="0" marL="0">
              <a:lnSpc>
                <a:spcPct val="115000"/>
              </a:lnSpc>
              <a:buNone/>
            </a:pPr>
            <a:r>
              <a:rPr lang="en-US" sz="82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].dt.month</a:t>
            </a:r>
            <a:pPr indent="0" marL="0">
              <a:lnSpc>
                <a:spcPct val="115000"/>
              </a:lnSpc>
              <a:buNone/>
            </a:pPr>
            <a:endParaRPr lang="en-US" sz="82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2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pPr indent="0" marL="0">
              <a:lnSpc>
                <a:spcPct val="115000"/>
              </a:lnSpc>
              <a:buNone/>
            </a:pPr>
            <a:r>
              <a:rPr lang="en-US" sz="82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'weekday'</a:t>
            </a:r>
            <a:pPr indent="0" marL="0">
              <a:lnSpc>
                <a:spcPct val="115000"/>
              </a:lnSpc>
              <a:buNone/>
            </a:pPr>
            <a:r>
              <a:rPr lang="en-US" sz="82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df[</a:t>
            </a:r>
            <a:pPr indent="0" marL="0">
              <a:lnSpc>
                <a:spcPct val="115000"/>
              </a:lnSpc>
              <a:buNone/>
            </a:pPr>
            <a:r>
              <a:rPr lang="en-US" sz="82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'date'</a:t>
            </a:r>
            <a:pPr indent="0" marL="0">
              <a:lnSpc>
                <a:spcPct val="115000"/>
              </a:lnSpc>
              <a:buNone/>
            </a:pPr>
            <a:r>
              <a:rPr lang="en-US" sz="82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].dt.dayofweek       </a:t>
            </a:r>
            <a:pPr indent="0" marL="0">
              <a:lnSpc>
                <a:spcPct val="115000"/>
              </a:lnSpc>
              <a:buNone/>
            </a:pPr>
            <a:r>
              <a:rPr lang="en-US" sz="82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월=0 … 일=6</a:t>
            </a:r>
            <a:pPr indent="0" marL="0">
              <a:lnSpc>
                <a:spcPct val="115000"/>
              </a:lnSpc>
              <a:buNone/>
            </a:pPr>
            <a:endParaRPr lang="en-US" sz="82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2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pPr indent="0" marL="0">
              <a:lnSpc>
                <a:spcPct val="115000"/>
              </a:lnSpc>
              <a:buNone/>
            </a:pPr>
            <a:r>
              <a:rPr lang="en-US" sz="82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'is_weekend'</a:t>
            </a:r>
            <a:pPr indent="0" marL="0">
              <a:lnSpc>
                <a:spcPct val="115000"/>
              </a:lnSpc>
              <a:buNone/>
            </a:pPr>
            <a:r>
              <a:rPr lang="en-US" sz="82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(df[</a:t>
            </a:r>
            <a:pPr indent="0" marL="0">
              <a:lnSpc>
                <a:spcPct val="115000"/>
              </a:lnSpc>
              <a:buNone/>
            </a:pPr>
            <a:r>
              <a:rPr lang="en-US" sz="82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'weekday'</a:t>
            </a:r>
            <a:pPr indent="0" marL="0">
              <a:lnSpc>
                <a:spcPct val="115000"/>
              </a:lnSpc>
              <a:buNone/>
            </a:pPr>
            <a:r>
              <a:rPr lang="en-US" sz="82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&gt;= 5).astype(</a:t>
            </a:r>
            <a:pPr indent="0" marL="0">
              <a:lnSpc>
                <a:spcPct val="115000"/>
              </a:lnSpc>
              <a:buNone/>
            </a:pPr>
            <a:r>
              <a:rPr lang="en-US" sz="82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'int32'</a:t>
            </a:r>
            <a:pPr indent="0" marL="0">
              <a:lnSpc>
                <a:spcPct val="115000"/>
              </a:lnSpc>
              <a:buNone/>
            </a:pPr>
            <a:r>
              <a:rPr lang="en-US" sz="82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</a:t>
            </a:r>
            <a:pPr indent="0" marL="0">
              <a:lnSpc>
                <a:spcPct val="115000"/>
              </a:lnSpc>
              <a:buNone/>
            </a:pPr>
            <a:r>
              <a:rPr lang="en-US" sz="82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5차시 조건 → 0/1</a:t>
            </a:r>
            <a:pPr indent="0" marL="0">
              <a:lnSpc>
                <a:spcPct val="115000"/>
              </a:lnSpc>
              <a:buNone/>
            </a:pPr>
            <a:endParaRPr lang="en-US" sz="821" dirty="0"/>
          </a:p>
          <a:p>
            <a:pPr indent="0" marL="0">
              <a:lnSpc>
                <a:spcPct val="115000"/>
              </a:lnSpc>
              <a:buNone/>
            </a:pPr>
            <a:endParaRPr lang="en-US" sz="82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2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df.drop(columns=[</a:t>
            </a:r>
            <a:pPr indent="0" marL="0">
              <a:lnSpc>
                <a:spcPct val="115000"/>
              </a:lnSpc>
              <a:buNone/>
            </a:pPr>
            <a:r>
              <a:rPr lang="en-US" sz="82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'date'</a:t>
            </a:r>
            <a:pPr indent="0" marL="0">
              <a:lnSpc>
                <a:spcPct val="115000"/>
              </a:lnSpc>
              <a:buNone/>
            </a:pPr>
            <a:r>
              <a:rPr lang="en-US" sz="82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                </a:t>
            </a:r>
            <a:pPr indent="0" marL="0">
              <a:lnSpc>
                <a:spcPct val="115000"/>
              </a:lnSpc>
              <a:buNone/>
            </a:pPr>
            <a:r>
              <a:rPr lang="en-US" sz="82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날짜 원본은 모델에 못 넣는다</a:t>
            </a:r>
            <a:pPr indent="0" marL="0">
              <a:lnSpc>
                <a:spcPct val="115000"/>
              </a:lnSpc>
              <a:buNone/>
            </a:pPr>
            <a:endParaRPr lang="en-US" sz="82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2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82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(df[[</a:t>
            </a:r>
            <a:pPr indent="0" marL="0">
              <a:lnSpc>
                <a:spcPct val="115000"/>
              </a:lnSpc>
              <a:buNone/>
            </a:pPr>
            <a:r>
              <a:rPr lang="en-US" sz="82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'year'</a:t>
            </a:r>
            <a:pPr indent="0" marL="0">
              <a:lnSpc>
                <a:spcPct val="115000"/>
              </a:lnSpc>
              <a:buNone/>
            </a:pPr>
            <a:r>
              <a:rPr lang="en-US" sz="82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82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'month'</a:t>
            </a:r>
            <a:pPr indent="0" marL="0">
              <a:lnSpc>
                <a:spcPct val="115000"/>
              </a:lnSpc>
              <a:buNone/>
            </a:pPr>
            <a:r>
              <a:rPr lang="en-US" sz="82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82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'weekday'</a:t>
            </a:r>
            <a:pPr indent="0" marL="0">
              <a:lnSpc>
                <a:spcPct val="115000"/>
              </a:lnSpc>
              <a:buNone/>
            </a:pPr>
            <a:r>
              <a:rPr lang="en-US" sz="82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82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'is_weekend'</a:t>
            </a:r>
            <a:pPr indent="0" marL="0">
              <a:lnSpc>
                <a:spcPct val="115000"/>
              </a:lnSpc>
              <a:buNone/>
            </a:pPr>
            <a:r>
              <a:rPr lang="en-US" sz="82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]].head(2))</a:t>
            </a:r>
            <a:endParaRPr lang="en-US" sz="821" dirty="0"/>
          </a:p>
        </p:txBody>
      </p:sp>
      <p:sp>
        <p:nvSpPr>
          <p:cNvPr id="6" name="Shape 4"/>
          <p:cNvSpPr/>
          <p:nvPr/>
        </p:nvSpPr>
        <p:spPr>
          <a:xfrm>
            <a:off x="457200" y="393192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4005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4261104"/>
            <a:ext cx="47914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year  month  weekday  is_weekend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0  2026      3        6           1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1  2026      3        6           1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쪼개나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'2026-03-01' 을 못 읽는다. 연·월·요일 숫자로 쪼개면 '주말에 승률이 높다' 같은 규칙을 배울 수 있다. 원본 날짜 열은 drop.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 / 47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— 앱 20차시 (10분) · 확인 퀴즈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코드 소환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「astype &amp; to_datetime 변환 조립」 버튼 → 숫자 열을 astype 으로, date 열을 to_datetime 으로 바꾸고 dtypes 를 찍는 코드가 나타난다.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파라미터 적용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 열(나이·구매수량·랭킹점수)과 타입(int32·float32·int64)을 고르고 「파라미터 적용」. int32 와 int64 의 차이(메모리)를 먼저 말한다.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실행 · 차트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「파이프라인 실행」 → 변환 전후 메모리 차트. object → int32 가 왜 작아지는지 짚는다 (글자는 무겁다).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 열을 정수로 바꾸는 식은?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4472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df['열'] = df['열'].astype('int32')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977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NaN 이 있는 열을 int 로 바꾸면?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270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ValueError — 먼저 fillna 하거나 float 로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 / 47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20차시 정리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결측을 먼저 처리하고, astype 으로 형을 맞춘다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691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df['열'] = df['열'].astype('int32') — object 숫자 열을 계산 가능하게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377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pd.to_datetime(df['date'], errors='coerce') → .dt.year/.month/.dayofweek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0632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NaN 이 있으면 int 불가 — fillna 먼저, 또는 float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749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실기 패턴: 날짜 → 연·월·요일 파생변수, 원본 날짜 열은 drop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→ Part 2 후반 — 21차시 라벨 인코딩 · 22차시 원-핫 인코딩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 / 47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정지원</dc:creator>
  <cp:lastModifiedBy>정지원</cp:lastModifiedBy>
  <cp:revision>1</cp:revision>
  <dcterms:created xsi:type="dcterms:W3CDTF">2026-09-23T01:21:18Z</dcterms:created>
  <dcterms:modified xsi:type="dcterms:W3CDTF">2026-09-23T01:21:18Z</dcterms:modified>
</cp:coreProperties>
</file>