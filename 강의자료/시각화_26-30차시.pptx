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 시작. matplotlib 세 줄 규칙(그리기 → 꾸미기 → show)을 여기서 심는다. 한글 폰트 설정도 오늘.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산점도는 '두 열의 관계', 히스토그램은 '한 열의 분포'. 이 구분이 오늘의 전부. 28차시 상관계수의 준비.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27차시 산점도를 숫자로 바꾼 것. 0.7 이상이면 강하다는 감각과, 상관≠인과를 같이 심는다.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14차시 75%·max 신호를 그림과 공식으로 확정한다. 사분위수 읽는 법이 오늘의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 마무리. 26~29차시에서 그린 그림에 옷을 입히는 차시. 저장 옵션 두 개(dpi, bbox_inches)가 실무 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어소시에이트 실기 · Part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시각화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26~30차시 · 막대 · 산점도와 히스토그램 · 히트맵 · 상자 그림 · 서식과 저장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26차시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plt.barh()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57984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67712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27차시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67328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77056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28차시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877056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df.corr()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76672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29차시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(1.5배)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86016" y="3108960"/>
            <a:ext cx="1463040" cy="1005840"/>
          </a:xfrm>
          <a:prstGeom prst="roundRect">
            <a:avLst>
              <a:gd name="adj" fmla="val 9091"/>
            </a:avLst>
          </a:prstGeom>
          <a:solidFill>
            <a:srgbClr val="312E81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95744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30차시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95744" y="34381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plt.title() · legend()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plt.savefig()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흥해공고 · 강사 정지원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EDA 시각화 — 다섯 차시 한눈에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26차시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258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막대와 가로 막대 회전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258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plt.bar()  ·  plt.barh()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3258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2점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842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98424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27차시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19842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산점도와 구간 히스토그램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9842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plt.scatter()  ·  plt.hist()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842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확인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64261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28차시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6426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 계산과 열화상 히트맵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6426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df.corr()  ·  sns.heatmap()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64261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선택 족보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009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0098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29차시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30098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상자 그림과 이상치 탐지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30098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sns.boxplot()  ·  IQR (1.5배)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330098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제거 공식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9593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30차시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3959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서식 완성 및 고화질 내보내기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95935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plt.title() · legend()  ·  plt.savefig()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9593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감점 방지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차시마다: 개념 두 개 → 비교 → 흔한 실수 → 실기 패턴 → 앱 실습(10분) → 퀴즈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막대와 가로 막대 회전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글자는 눈에 안 들어온다 — 막대로 세우고, 이름이 길면 눕힌다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plt.barh()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범주별 비교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24차시 groupby 결과를 막대로. '어느 포지션이 승률이 높은가' 를 한눈에.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배점이 있는 문제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시각화 문제는 그래프 종류·제목·라벨까지 채점한다. 2점짜리 단골.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라벨이 □□□ 로 깨진다. plt.rc('font', family='Malgun Gothic') 한 줄을 맨 앞에 쓴다. 음수 부호가 깨지면 plt.rc('axes', unicode_minus=False).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plt.bar — 세로 막대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1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matplotlib.pyplot </a:t>
            </a:r>
            <a:pPr indent="0" marL="0">
              <a:lnSpc>
                <a:spcPct val="115000"/>
              </a:lnSpc>
              <a:buNone/>
            </a:pPr>
            <a:r>
              <a:rPr lang="en-US" sz="91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plt</a:t>
            </a:r>
            <a:pPr indent="0" marL="0">
              <a:lnSpc>
                <a:spcPct val="115000"/>
              </a:lnSpc>
              <a:buNone/>
            </a:pPr>
            <a:endParaRPr lang="en-US" sz="91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plt.rc(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'font'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family=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'Malgun Gothic'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한글 깨짐 방지</a:t>
            </a:r>
            <a:pPr indent="0" marL="0">
              <a:lnSpc>
                <a:spcPct val="115000"/>
              </a:lnSpc>
              <a:buNone/>
            </a:pPr>
            <a:endParaRPr lang="en-US" sz="91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plt.figure(figsize=(6, 4))</a:t>
            </a:r>
            <a:pPr indent="0" marL="0">
              <a:lnSpc>
                <a:spcPct val="115000"/>
              </a:lnSpc>
              <a:buNone/>
            </a:pPr>
            <a:endParaRPr lang="en-US" sz="91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plt.bar([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'탑'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'미드'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'원딜'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'서포터'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'정글'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91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[51.2, 53.8, 49.5, 48.0, 52.1], color=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'#4f46e5'</a:t>
            </a:r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alpha=0.8)</a:t>
            </a:r>
            <a:pPr indent="0" marL="0">
              <a:lnSpc>
                <a:spcPct val="115000"/>
              </a:lnSpc>
              <a:buNone/>
            </a:pPr>
            <a:endParaRPr lang="en-US" sz="91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916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줄 규칙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import (한 번만)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figure(figsize=(가로, 세로)) — 크기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bar(x, y, color=, alpha=) — 그리기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show() — 화면에 내보내기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alpha 는 투명도 0~1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자리에는 이름 리스트, y 자리에는 숫자 리스트. 개수가 같아야 한다.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47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plt.barh — 가로 막대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plt.barh([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'서포터'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'원딜'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'탑'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'정글'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'미드'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pPr indent="0" marL="0">
              <a:lnSpc>
                <a:spcPct val="115000"/>
              </a:lnSpc>
              <a:buNone/>
            </a:pPr>
            <a:endParaRPr lang="en-US" sz="107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[48.0, 49.5, 51.2, 52.1, 53.8], color=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'#10b981'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7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'승률(%)'</a:t>
            </a:r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7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7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77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눕히나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947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이름이 길 때(회사명·지역명), 항목이 10개 넘을 때. 세로로 쓰면 글자가 겹치거나 기울어진다.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barh 는 아래에서 위로 그린다 — 작은 값부터 넣어야 1등이 맨 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x 축과 y 축이 바뀌니 xlabel 에 숫자 이름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정렬은 25차시 sort_values 로 미리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47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차트에 반드시 붙일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plt.bar(x, y, color=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'#4f46e5'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12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'포지션별 평균 승률'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fontsize=14)   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제목</a:t>
            </a:r>
            <a:pPr indent="0" marL="0">
              <a:lnSpc>
                <a:spcPct val="115000"/>
              </a:lnSpc>
              <a:buNone/>
            </a:pPr>
            <a:endParaRPr lang="en-US" sz="112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x축 이름</a:t>
            </a:r>
            <a:pPr indent="0" marL="0">
              <a:lnSpc>
                <a:spcPct val="115000"/>
              </a:lnSpc>
              <a:buNone/>
            </a:pPr>
            <a:endParaRPr lang="en-US" sz="112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'승률(%)'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y축 이름</a:t>
            </a:r>
            <a:pPr indent="0" marL="0">
              <a:lnSpc>
                <a:spcPct val="115000"/>
              </a:lnSpc>
              <a:buNone/>
            </a:pPr>
            <a:endParaRPr lang="en-US" sz="112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126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1920240"/>
          </a:xfrm>
          <a:prstGeom prst="roundRect">
            <a:avLst>
              <a:gd name="adj" fmla="val 476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셋이 배점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제목·축 이름이 없으면 '무슨 그래프인지 모른다' 로 감점. 30차시에서 범례까지 완성한다.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6393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색은 하나로 충분하다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막대마다 다른 색을 쓰면 '색이 의미가 있나?' 하고 헷갈린다. 강조할 하나만 다른 색으로 (앱 3차시 보너스 막대처럼).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47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show() 누락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주피터에서는 우연히 보이기도 하지만, 스크립트에서는 아무것도 안 뜬다. 마지막 줄은 plt.show().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x·y 개수 불일치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5개에 숫자 4개면 ValueError. len 으로 세어 확인.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폰트 미설정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□□□ 로 깨진다. plt.rc('font', family='Malgun Gothic') 을 import 바로 뒤에.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matplotlib.pyplot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plt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plt.rc(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'font'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family=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'Malgun Gothic'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plt.rc(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'axes'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unicode_minus=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음수 부호 깨짐 방지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47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groupby 결과를 막대로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= df.groupby(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].mean().reset_index()   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24차시</a:t>
            </a:r>
            <a:pPr indent="0" marL="0">
              <a:lnSpc>
                <a:spcPct val="115000"/>
              </a:lnSpc>
              <a:buNone/>
            </a:pPr>
            <a:endParaRPr lang="en-US" sz="9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= stat.sort_values(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ascending=</a:t>
            </a:r>
            <a:pPr indent="0" marL="0">
              <a:lnSpc>
                <a:spcPct val="115000"/>
              </a:lnSpc>
              <a:buNone/>
            </a:pPr>
            <a:r>
              <a:rPr lang="en-US" sz="93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25차시</a:t>
            </a:r>
            <a:pPr indent="0" marL="0">
              <a:lnSpc>
                <a:spcPct val="115000"/>
              </a:lnSpc>
              <a:buNone/>
            </a:pPr>
            <a:endParaRPr lang="en-US" sz="933" dirty="0"/>
          </a:p>
          <a:p>
            <a:pPr indent="0" marL="0">
              <a:lnSpc>
                <a:spcPct val="115000"/>
              </a:lnSpc>
              <a:buNone/>
            </a:pPr>
            <a:endParaRPr lang="en-US" sz="9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plt.figure(figsize=(6, 4))</a:t>
            </a:r>
            <a:pPr indent="0" marL="0">
              <a:lnSpc>
                <a:spcPct val="115000"/>
              </a:lnSpc>
              <a:buNone/>
            </a:pPr>
            <a:endParaRPr lang="en-US" sz="9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plt.bar(stat[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stat[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color=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'#4f46e5'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'포지션별 평균 승률'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'승률(%)'</a:t>
            </a:r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3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933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· 25 · 26 이 한 흐름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묶어서 계산하고(24), 정렬하고(25), 그린다(26).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EDA 문제는 거의 이 세 줄 조합이다.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47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26차시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「막대 그래프 시각화 코드 조립」 버튼 → figure·bar·show 로 포지션별 승률을 그리는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방향(bar 세로·barh 가로), 색(indigo·emerald·rose), 투명도(0.3~1.0)를 고르고 「파라미터 적용」. barh 로 바꾸면 코드의 어느 글자가 바뀌는지 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포지션별 승률 막대. 투명도를 0.3 으로 낮춰 보고 발표용으로 적당한 값을 정해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항목 이름이 길 때 쓰는 함수는?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plt.barh (가로 막대)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한글이 □□□ 로 나올 때 한 줄은?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plt.rc('font', family='Malgun Gothic')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47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세로는 bar, 가로는 barh — 제목과 축 이름은 필수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plt.figure(figsize=) → plt.bar(x, y, color=, alpha=) → plt.show()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길거나 항목이 많으면 barh (작은 값부터 넣는다)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title·xlabel·ylabel 이 배점 — 빠뜨리면 감점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한글은 plt.rc('font', family='Malgun Gothic')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27차시 scatter · hist — 관계와 분포 보기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47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산점도와 구간 히스토그램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킬이 늘면 골드도 늘까 — 점을 흩뿌려 관계를 보고, 구간으로 쏠림을 본다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47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열의 관계 (scatter)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점이 오른쪽 위로 몰리면 같이 커진다는 뜻. 28차시 상관계수를 눈으로 먼저 확인.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열의 분포 (hist)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점수가 어디에 몰려 있나, 한쪽으로 치우쳤나. 14차시 describe 를 그림으로.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점이 수천 개면 까맣게 뭉쳐 아무것도 안 보인다. alpha 를 0.3~0.5 로 낮춰 겹침을 드러낸다. 실기에서 alpha 를 주는 이유가 이것.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47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plt.scatter(x, y) — 두 열을 점으로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plt.figure(figsize=(6, 4))</a:t>
            </a:r>
            <a:pPr indent="0" marL="0">
              <a:lnSpc>
                <a:spcPct val="115000"/>
              </a:lnSpc>
              <a:buNone/>
            </a:pPr>
            <a:endParaRPr lang="en-US" sz="90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plt.scatter(df[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'킬수'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df[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s=40, alpha=0.5, color=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'#4f46e5'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0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'Kill Count'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0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'Gold Earned'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0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'킬 수와 골드의 관계'</a:t>
            </a:r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0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5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905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x 와 y 에 각각 열 하나씩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 = 점 크기, alpha = 투명도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두 열의 행 수가 같아야 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오른쪽 위로 뻗으면 양의 관계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흩어져 있으면 관계 없음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'킬이 많은 사람이 골드도 많다' 를 증명하는 가장 빠른 그림.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47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plt.hist(x, bins=) — 한 열을 구간으로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plt.hist(df[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bins=10, color=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'#10b981'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edgecolor=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'white'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'승률(%)'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'인원 수'</a:t>
            </a:r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5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953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bins 가 핵심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947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구간을 몇 칸으로 나눌지. 너무 적으면 뭉뚱그려지고, 너무 많으면 들쭉날쭉. 10~30 사이에서 조절.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읽나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봉우리가 하나인가 둘인가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왼쪽/오른쪽으로 치우쳤나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멀리 떨어진 막대 = 이상치 (29차시)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14차시 mean 과 50% 가 다르면 여기서 치우침이 보인다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47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scatter 와 hist — 무엇을 물을 때 쓰나</a:t>
            </a:r>
            <a:endParaRPr lang="en-US" sz="2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scatter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 개수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개 (x, y)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묻는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둘이 같이 움직이나?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값이 어디에 몰렸나?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옵션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s(크기), alpha(투명도)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bins(구간 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28차시 상관계수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29차시 상자그림·이상치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4050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문제에 '관계·상관' 이 있으면 scatter, '분포·쏠림' 이 있으면 hist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47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scatter 에 열 하나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plt.scatter(df['승률']) 은 에러. x 와 y 둘 다 필요하다. 하나면 hist.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점이 뭉쳐 안 보임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alpha 를 안 주면 까만 덩어리. alpha=0.3~0.5, 점이 아주 많으면 s 도 줄인다.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관계를 인과로 읽음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'킬이 많아서 골드가 많다' 인지 '골드가 많아서 킬이 많다' 인지는 그림으로 알 수 없다. 같이 움직인다까지만.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3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plt.scatter(df[</a:t>
            </a:r>
            <a:pPr indent="0" marL="0">
              <a:lnSpc>
                <a:spcPct val="115000"/>
              </a:lnSpc>
              <a:buNone/>
            </a:pPr>
            <a:r>
              <a:rPr lang="en-US" sz="153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'킬수'</a:t>
            </a:r>
            <a:pPr indent="0" marL="0">
              <a:lnSpc>
                <a:spcPct val="115000"/>
              </a:lnSpc>
              <a:buNone/>
            </a:pPr>
            <a:r>
              <a:rPr lang="en-US" sz="153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df[</a:t>
            </a:r>
            <a:pPr indent="0" marL="0">
              <a:lnSpc>
                <a:spcPct val="115000"/>
              </a:lnSpc>
              <a:buNone/>
            </a:pPr>
            <a:r>
              <a:rPr lang="en-US" sz="153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53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s=20, alpha=0.3)   </a:t>
            </a:r>
            <a:pPr indent="0" marL="0">
              <a:lnSpc>
                <a:spcPct val="115000"/>
              </a:lnSpc>
              <a:buNone/>
            </a:pPr>
            <a:r>
              <a:rPr lang="en-US" sz="153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점이 많을 때</a:t>
            </a:r>
            <a:endParaRPr lang="en-US" sz="1531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47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한 화면에 두 그림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plt.subplots(1, 2, figsize=(10, 4))   </a:t>
            </a:r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1행 2열</a:t>
            </a:r>
            <a:pPr indent="0" marL="0">
              <a:lnSpc>
                <a:spcPct val="115000"/>
              </a:lnSpc>
              <a:buNone/>
            </a:pPr>
            <a:endParaRPr lang="en-US" sz="1051" dirty="0"/>
          </a:p>
          <a:p>
            <a:pPr indent="0" marL="0">
              <a:lnSpc>
                <a:spcPct val="115000"/>
              </a:lnSpc>
              <a:buNone/>
            </a:pPr>
            <a:endParaRPr lang="en-US" sz="10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axes[0].scatter(df[</a:t>
            </a:r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'킬수'</a:t>
            </a:r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df[</a:t>
            </a:r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alpha=0.5)</a:t>
            </a:r>
            <a:pPr indent="0" marL="0">
              <a:lnSpc>
                <a:spcPct val="115000"/>
              </a:lnSpc>
              <a:buNone/>
            </a:pPr>
            <a:endParaRPr lang="en-US" sz="10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axes[0].set_title(</a:t>
            </a:r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'킬 vs 골드'</a:t>
            </a:r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51" dirty="0"/>
          </a:p>
          <a:p>
            <a:pPr indent="0" marL="0">
              <a:lnSpc>
                <a:spcPct val="115000"/>
              </a:lnSpc>
              <a:buNone/>
            </a:pPr>
            <a:endParaRPr lang="en-US" sz="10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axes[1].hist(df[</a:t>
            </a:r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bins=10)</a:t>
            </a:r>
            <a:pPr indent="0" marL="0">
              <a:lnSpc>
                <a:spcPct val="115000"/>
              </a:lnSpc>
              <a:buNone/>
            </a:pPr>
            <a:endParaRPr lang="en-US" sz="10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axes[1].set_title(</a:t>
            </a:r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 분포'</a:t>
            </a:r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051" dirty="0"/>
          </a:p>
          <a:p>
            <a:pPr indent="0" marL="0">
              <a:lnSpc>
                <a:spcPct val="115000"/>
              </a:lnSpc>
              <a:buNone/>
            </a:pPr>
            <a:endParaRPr lang="en-US" sz="10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pPr indent="0" marL="0">
              <a:lnSpc>
                <a:spcPct val="115000"/>
              </a:lnSpc>
              <a:buNone/>
            </a:pPr>
            <a:endParaRPr lang="en-US" sz="105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51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2743200"/>
          </a:xfrm>
          <a:prstGeom prst="roundRect">
            <a:avLst>
              <a:gd name="adj" fmla="val 333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subplots 읽기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423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(1, 2) 는 1행 2열. axes[0] 이 왼쪽, axes[1] 이 오른쪽.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axes 에서는 plt.title 대신 set_title 을 쓴다.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tight_layout() 은 그림끼리 겹치지 않게 간격을 자동으로 잡아 준다.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47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27차시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「산점도 &amp; 히스토그램 조립」 버튼 → 킬 수와 골드의 산점도를 그리는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크기(20~80)와 투명도(0.2~0.8)를 고르고 「파라미터 적용」. 점이 겹칠 때 어느 쪽을 낮춰야 하는지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킬 수 vs 골드 산점도. 점들이 오른쪽 위로 뻗는지 보고 28차시 상관계수를 예상해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 열의 분포를 볼 때 쓰는 함수는?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plt.hist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점이 까맣게 뭉칠 때 낮추는 옵션은?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alpha (투명도)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47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관계는 scatter, 분포는 hist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plt.scatter(x, y, s=, alpha=) — 두 열이 같이 움직이나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plt.hist(x, bins=) — 한 열이 어디에 몰렸나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점이 뭉치면 alpha 를 0.3~0.5 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subplots(1, 2) 로 두 그림을 한 화면에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28차시 corr · heatmap — 관계를 숫자와 색으로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47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 계산과 열화상 히트맵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열이 승리에 결정적인가 — −1에서 +1까지 숫자로, 빨강·파랑 지도로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df.corr()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47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타깃과 친한 열 찾기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df.corr()['승패'].sort_values() — 정답과 상관이 높은 열이 좋은 입력.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겹치는 열 걸러내기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입력이 0.9 이상이면 사실상 같은 정보. 하나는 버린다(19차시 drop).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corr() 는 숫자 열만 계산한다. 글자 열은 조용히 빠진다 — 21·22차시 인코딩을 먼저 하면 그 열도 상관을 볼 수 있다.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47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df.corr() — 열끼리의 상관계수 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corr_matrix = df[[</a:t>
            </a:r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'킬수'</a:t>
            </a:r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'피해량'</a:t>
            </a:r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]].corr(method=</a:t>
            </a:r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'pearson'</a:t>
            </a:r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84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4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4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(corr_matrix.round(2))</a:t>
            </a:r>
            <a:endParaRPr lang="en-US" sz="849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118104"/>
            <a:ext cx="4791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승률   킬수    골드   피해량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승률   1.00  0.82  0.76  0.71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킬수   0.82  1.00  0.88  0.91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골드   0.76  0.88  1.00  0.85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피해량  0.71  0.91  0.85  1.00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+1 에 가까우면 같이 커진다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−1 에 가까우면 하나가 크면 하나는 작다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0 근처면 관계 없음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대각선은 자기 자신이라 언제나 1.00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표가 대칭이다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47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sns.heatmap — 표를 색으로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seaborn </a:t>
            </a:r>
            <a:pPr indent="0" marL="0">
              <a:lnSpc>
                <a:spcPct val="115000"/>
              </a:lnSpc>
              <a:buNone/>
            </a:pPr>
            <a:r>
              <a:rPr lang="en-US" sz="95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sns</a:t>
            </a:r>
            <a:pPr indent="0" marL="0">
              <a:lnSpc>
                <a:spcPct val="115000"/>
              </a:lnSpc>
              <a:buNone/>
            </a:pPr>
            <a:endParaRPr lang="en-US" sz="95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sns.heatmap(corr_matrix, annot=</a:t>
            </a:r>
            <a:pPr indent="0" marL="0">
              <a:lnSpc>
                <a:spcPct val="115000"/>
              </a:lnSpc>
              <a:buNone/>
            </a:pPr>
            <a:r>
              <a:rPr lang="en-US" sz="95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cmap=</a:t>
            </a:r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'coolwarm'</a:t>
            </a:r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fmt=</a:t>
            </a:r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'.2f'</a:t>
            </a:r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5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</a:t>
            </a:r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'변수 간 상관계수'</a:t>
            </a:r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5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959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옵션만 기억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947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annot=True 숫자 표시 · cmap='coolwarm' 빨강-파랑 · fmt='.2f' 소수 둘째 자리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색으로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열이 20개면 표가 400칸이다. 숫자만 보면 못 찾는다.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칸(높은 상관)만 눈으로 골라내면 되니 실기에서 시간을 아낀다.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47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값을 어떻게 판단하나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657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|상관계수|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실기에서 할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 ~ 0.3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거의 관계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입력은 도움이 적다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 ~ 0.7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정도 관계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쓸 만한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 ~ 0.9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강한 관계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타깃과면 좋다 · 입력끼리면 주의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 이상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사실상 같은 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입력끼리면 하나 버린다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4050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상관이 높다고 원인은 아니다 — 아이스크림 판매와 익사 사고는 같이 오른다(둘 다 여름)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47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열이 빠진 줄 모름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corr() 결과에 티어·포지션이 없다. 인코딩(21·22차시)을 먼저 하면 들어온다.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seaborn 미import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 는 seaborn. import seaborn as sns 를 빠뜨리면 NameError.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절댓값을 안 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−0.85 는 +0.85 만큼 강하다. 정렬할 때 .abs() 를 씌워 큰 순으로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2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2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(df.corr()[</a:t>
            </a:r>
            <a:pPr indent="0" marL="0">
              <a:lnSpc>
                <a:spcPct val="115000"/>
              </a:lnSpc>
              <a:buNone/>
            </a:pPr>
            <a:r>
              <a:rPr lang="en-US" sz="1529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52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].abs().sort_values(ascending=</a:t>
            </a:r>
            <a:pPr indent="0" marL="0">
              <a:lnSpc>
                <a:spcPct val="115000"/>
              </a:lnSpc>
              <a:buNone/>
            </a:pPr>
            <a:r>
              <a:rPr lang="en-US" sz="1529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1529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).head(4))</a:t>
            </a:r>
            <a:pPr indent="0" marL="0">
              <a:lnSpc>
                <a:spcPct val="115000"/>
              </a:lnSpc>
              <a:buNone/>
            </a:pPr>
            <a:endParaRPr lang="en-US" sz="152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2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승률 1.00 · 킬수 0.82 · 골드 0.76 · 피해량 0.71</a:t>
            </a:r>
            <a:endParaRPr lang="en-US" sz="1529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47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타깃과 친한 열 고르기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corr_target = df.corr()[</a:t>
            </a:r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'승패'</a:t>
            </a:r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].abs().sort_values(ascending=</a:t>
            </a:r>
            <a:pPr indent="0" marL="0">
              <a:lnSpc>
                <a:spcPct val="115000"/>
              </a:lnSpc>
              <a:buNone/>
            </a:pPr>
            <a:r>
              <a:rPr lang="en-US" sz="88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(corr_target.head(6))</a:t>
            </a:r>
            <a:pPr indent="0" marL="0">
              <a:lnSpc>
                <a:spcPct val="115000"/>
              </a:lnSpc>
              <a:buNone/>
            </a:pP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 = corr_target[corr_target &lt; 0.1].index.tolist()   </a:t>
            </a:r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거의 무관한 열</a:t>
            </a:r>
            <a:pPr indent="0" marL="0">
              <a:lnSpc>
                <a:spcPct val="115000"/>
              </a:lnSpc>
              <a:buNone/>
            </a:pP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df.drop(columns=weak)      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19차시</a:t>
            </a:r>
            <a:pPr indent="0" marL="0">
              <a:lnSpc>
                <a:spcPct val="115000"/>
              </a:lnSpc>
              <a:buNone/>
            </a:pPr>
            <a:endParaRPr lang="en-US" sz="8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8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'남은 열:'</a:t>
            </a:r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88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8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(df.columns))</a:t>
            </a:r>
            <a:endParaRPr lang="en-US" sz="887" dirty="0"/>
          </a:p>
        </p:txBody>
      </p:sp>
      <p:sp>
        <p:nvSpPr>
          <p:cNvPr id="6" name="Shape 4"/>
          <p:cNvSpPr/>
          <p:nvPr/>
        </p:nvSpPr>
        <p:spPr>
          <a:xfrm>
            <a:off x="457200" y="34747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803904"/>
            <a:ext cx="479145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승패     1.00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킬수     0.68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골드     0.61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피해량    0.55</a:t>
            </a:r>
            <a:endParaRPr lang="en-US" sz="76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남은 열: 5</a:t>
            </a:r>
            <a:endParaRPr lang="en-US" sz="761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이것이 특성 선택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38차시 특성 중요도가 모델이 판단한 순위라면, 오늘은 통계가 판단한 순위다. 둘이 대체로 비슷하게 나온다.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47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28차시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「corr &amp; heatmap 파이프라인 조립」 버튼 → 네 열의 상관 행렬을 만들고 히트맵을 그리는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표시(annot True·False)와 컬러맵(coolwarm·Blues)을 고르고 「파라미터 적용」. annot=False 로 바꾸면 무엇이 사라지는지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상관계수 히트맵. 가장 빨간 칸(대각선 제외)을 찾아 그 두 열이 왜 닮았는지 짝과 이야기한다.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상관계수가 1.00 인 대각선은 무엇인가?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자기 자신과의 상관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두 열의 상관이 0.95 이면?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같은 정보 — 하나를 버린다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47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 로 숫자, heatmap 으로 한눈에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df.corr() — 숫자 열끼리의 상관계수 표. 글자 열은 빠진다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sns.heatmap(corr, annot=True, cmap='coolwarm', fmt='.2f')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|0.7| 이상 강함, |0.9| 이상이면 입력 하나는 버린다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상관은 관계일 뿐 원인이 아니다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29차시 boxplot · IQR — 이상치 잡아내기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47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상자 그림과 이상치 탐지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50% 방에 혼자 99% 가 끼면 평균이 망가진다 — 상자 밖으로 튄 점을 잡는다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(1.5배)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47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찾아 제거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+ 1.5×IQR 보다 큰 행을 지운다. 모델 성능이 눈에 띄게 오른다.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분포 비교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sns.boxplot(x='포지션', y='골드') — 포지션마다 상자를 나란히 그린다.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튄 값을 무조건 지우면 안 된다. 입력 오류(승률 990%)면 지우고, 진짜 고수(승률 85%)면 남긴다. 그림을 보고 판단한 뒤 지운다.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47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상자 그림 읽는 법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22860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14차시 describe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상자 아래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Q1 — 아래에서 25% 지점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상자 안 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중앙값 — 절반 지점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상자 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Q3 — 아래에서 75% 지점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75%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수염 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Q1−1.5×IQR ~ Q3+1.5×IQR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바깥 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이상치(outlier)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max 가 여기 있으면 신호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41422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IQR = Q3 − Q1 — 가운데 절반이 퍼진 폭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47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sns.boxplot — 그려서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4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seaborn </a:t>
            </a:r>
            <a:pPr indent="0" marL="0">
              <a:lnSpc>
                <a:spcPct val="115000"/>
              </a:lnSpc>
              <a:buNone/>
            </a:pPr>
            <a:r>
              <a:rPr lang="en-US" sz="134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sns</a:t>
            </a:r>
            <a:pPr indent="0" marL="0">
              <a:lnSpc>
                <a:spcPct val="115000"/>
              </a:lnSpc>
              <a:buNone/>
            </a:pPr>
            <a:endParaRPr lang="en-US" sz="134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y=</a:t>
            </a:r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'골드획득량'</a:t>
            </a:r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whis=1.5)</a:t>
            </a:r>
            <a:pPr indent="0" marL="0">
              <a:lnSpc>
                <a:spcPct val="115000"/>
              </a:lnSpc>
              <a:buNone/>
            </a:pPr>
            <a:endParaRPr lang="en-US" sz="134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</a:t>
            </a:r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 획득량 이상치 분포'</a:t>
            </a:r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34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pPr indent="0" marL="0">
              <a:lnSpc>
                <a:spcPct val="115000"/>
              </a:lnSpc>
              <a:buNone/>
            </a:pPr>
            <a:endParaRPr lang="en-US" sz="1346" dirty="0"/>
          </a:p>
          <a:p>
            <a:pPr indent="0" marL="0">
              <a:lnSpc>
                <a:spcPct val="115000"/>
              </a:lnSpc>
              <a:buNone/>
            </a:pPr>
            <a:endParaRPr lang="en-US" sz="134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그룹별로 나란히</a:t>
            </a:r>
            <a:pPr indent="0" marL="0">
              <a:lnSpc>
                <a:spcPct val="115000"/>
              </a:lnSpc>
              <a:buNone/>
            </a:pPr>
            <a:endParaRPr lang="en-US" sz="134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 x=</a:t>
            </a:r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y=</a:t>
            </a:r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'골드획득량'</a:t>
            </a:r>
            <a:pPr indent="0" marL="0">
              <a:lnSpc>
                <a:spcPct val="115000"/>
              </a:lnSpc>
              <a:buNone/>
            </a:pPr>
            <a:r>
              <a:rPr lang="en-US" sz="134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46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y= 만 주면 전체 분포 하나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x= 를 주면 그룹별로 여러 상자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whis=1.5 가 기본 (수염 길이 배수)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whis 를 키우면 이상치로 잡히는 게 줄어든다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점 하나하나가 한 행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47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IQR 공식으로 직접 지우기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= df[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].quantile(0.25)</a:t>
            </a:r>
            <a:pPr indent="0" marL="0">
              <a:lnSpc>
                <a:spcPct val="115000"/>
              </a:lnSpc>
              <a:buNone/>
            </a:pPr>
            <a:endParaRPr lang="en-US" sz="12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= df[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].quantile(0.75)</a:t>
            </a:r>
            <a:pPr indent="0" marL="0">
              <a:lnSpc>
                <a:spcPct val="115000"/>
              </a:lnSpc>
              <a:buNone/>
            </a:pPr>
            <a:endParaRPr lang="en-US" sz="12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pPr indent="0" marL="0">
              <a:lnSpc>
                <a:spcPct val="115000"/>
              </a:lnSpc>
              <a:buNone/>
            </a:pPr>
            <a:endParaRPr lang="en-US" sz="12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= Q1 - 1.5 * IQR</a:t>
            </a:r>
            <a:pPr indent="0" marL="0">
              <a:lnSpc>
                <a:spcPct val="115000"/>
              </a:lnSpc>
              <a:buNone/>
            </a:pPr>
            <a:endParaRPr lang="en-US" sz="12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= Q3 + 1.5 * IQR</a:t>
            </a:r>
            <a:pPr indent="0" marL="0">
              <a:lnSpc>
                <a:spcPct val="115000"/>
              </a:lnSpc>
              <a:buNone/>
            </a:pPr>
            <a:endParaRPr lang="en-US" sz="12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f'정상 범위: {low:.0f} ~ {high:.0f}'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232" dirty="0"/>
          </a:p>
          <a:p>
            <a:pPr indent="0" marL="0">
              <a:lnSpc>
                <a:spcPct val="115000"/>
              </a:lnSpc>
              <a:buNone/>
            </a:pPr>
            <a:endParaRPr lang="en-US" sz="12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= </a:t>
            </a:r>
            <a:pPr indent="0" marL="0">
              <a:lnSpc>
                <a:spcPct val="115000"/>
              </a:lnSpc>
              <a:buNone/>
            </a:pPr>
            <a:r>
              <a:rPr lang="en-US" sz="123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</a:t>
            </a:r>
            <a:pPr indent="0" marL="0">
              <a:lnSpc>
                <a:spcPct val="115000"/>
              </a:lnSpc>
              <a:buNone/>
            </a:pPr>
            <a:endParaRPr lang="en-US" sz="12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df[(df[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&gt;= low) &amp; (df[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&lt;= high)]</a:t>
            </a:r>
            <a:pPr indent="0" marL="0">
              <a:lnSpc>
                <a:spcPct val="115000"/>
              </a:lnSpc>
              <a:buNone/>
            </a:pPr>
            <a:endParaRPr lang="en-US" sz="12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3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(before, 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'→'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23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2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(df))</a:t>
            </a:r>
            <a:endParaRPr lang="en-US" sz="1232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4050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30682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정상 범위: 5550 ~ 15750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→ 5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두 개는 &amp; 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가 아니라 &amp;, 각 조건은 괄호로 감싼다. 판다스 규칙.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지운 뒤 25차시 reset_index(drop=True) 를 잊지 않는다.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47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 를 씀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df[(a) and (b)] 는 에러. 판다스는 &amp; (그리고) 와 | (또는). 각 조건에 괄호 필수.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무조건 삭제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이상치가 전체의 10% 를 넘으면 지우지 말고 원인을 본다. 단위가 섞였거나(원/천원) 다른 집단일 수 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열의 이상치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문제에서 y 의 극단값을 지우면 예측 범위가 좁아진다. 문제 지시를 따른다.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df[(df[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&gt;= low) &amp; (df[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'골드'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&lt;= high)].reset_index(drop=</a:t>
            </a:r>
            <a:pPr indent="0" marL="0">
              <a:lnSpc>
                <a:spcPct val="115000"/>
              </a:lnSpc>
              <a:buNone/>
            </a:pPr>
            <a:r>
              <a:rPr lang="en-US" sz="139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5000"/>
              </a:lnSpc>
              <a:buNone/>
            </a:pPr>
            <a:r>
              <a:rPr lang="en-US" sz="139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94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47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숫자 열 전부 점검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6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 </a:t>
            </a:r>
            <a:pPr indent="0" marL="0">
              <a:lnSpc>
                <a:spcPct val="115000"/>
              </a:lnSpc>
              <a:buNone/>
            </a:pPr>
            <a:r>
              <a:rPr lang="en-US" sz="86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df.select_dtypes(include=</a:t>
            </a:r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).columns:</a:t>
            </a:r>
            <a:pPr indent="0" marL="0">
              <a:lnSpc>
                <a:spcPct val="115000"/>
              </a:lnSpc>
              <a:buNone/>
            </a:pPr>
            <a:endParaRPr lang="en-US" sz="86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Q1, Q3 = df[col].quantile(0.25), df[col].quantile(0.75)</a:t>
            </a:r>
            <a:pPr indent="0" marL="0">
              <a:lnSpc>
                <a:spcPct val="115000"/>
              </a:lnSpc>
              <a:buNone/>
            </a:pPr>
            <a:endParaRPr lang="en-US" sz="86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IQR = Q3 - Q1</a:t>
            </a:r>
            <a:pPr indent="0" marL="0">
              <a:lnSpc>
                <a:spcPct val="115000"/>
              </a:lnSpc>
              <a:buNone/>
            </a:pPr>
            <a:endParaRPr lang="en-US" sz="86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((df[col] &lt; Q1 - 1.5 * IQR) | (df[col] &gt; Q3 + 1.5 * IQR)).</a:t>
            </a:r>
            <a:pPr indent="0" marL="0">
              <a:lnSpc>
                <a:spcPct val="115000"/>
              </a:lnSpc>
              <a:buNone/>
            </a:pPr>
            <a:r>
              <a:rPr lang="en-US" sz="86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pPr indent="0" marL="0">
              <a:lnSpc>
                <a:spcPct val="115000"/>
              </a:lnSpc>
              <a:buNone/>
            </a:pPr>
            <a:endParaRPr lang="en-US" sz="86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86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&gt; 0:</a:t>
            </a:r>
            <a:pPr indent="0" marL="0">
              <a:lnSpc>
                <a:spcPct val="115000"/>
              </a:lnSpc>
              <a:buNone/>
            </a:pPr>
            <a:endParaRPr lang="en-US" sz="86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864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f'{col}: 이상치 {n}개'</a:t>
            </a:r>
            <a:pPr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64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3867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4123944"/>
            <a:ext cx="4791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골드: 12개</a:t>
            </a:r>
            <a:endParaRPr lang="en-US" sz="1014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14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피해량: 3개</a:t>
            </a:r>
            <a:endParaRPr lang="en-US" sz="1014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16차시와 같은 꼴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isna().sum() 으로 결측을 세듯, 여기서는 이상치를 센다. 세고 나서 지울지 말지 정한다.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47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29차시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「boxplot 이상치 탐지 조립」 버튼 → 골드획득량의 상자 그림을 그리는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수염 배율(whis 1.0~2.0)과 테마 색을 고르고 「파라미터 적용」. whis 를 2.0 으로 올리면 이상치 점이 늘지 줄지 먼저 말한다 (줄어든다).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사분위 상자와 바깥 점. 점이 몇 개인지 세어 보고 그 학생들이 '핵 유저' 인지 '입력 오류' 인지 이야기한다.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은 무엇인가?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Q3 − Q1 (가운데 절반의 폭)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이상치 상한 공식은?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Q3 + 1.5 × IQR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47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상자 밖 점이 이상치 — Q3 + 1.5×IQR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상자 = Q1·중앙값·Q3, 수염 끝 = ±1.5×IQR, 바깥 점 = 이상치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sns.boxplot(data=df, y='열') · x= 를 주면 그룹별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결합은 &amp; 와 | , 각 조건은 괄호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지우기 전에 원인을 본다 — 오류면 삭제, 진짜면 유지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30차시 title · legend · savefig — 차트 서식 완성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47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서식 완성 및 고화질 내보내기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제목과 범례가 없는 차트는 0점 — 꾸미고 저장해 보고서를 완성한다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7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plt.title() · legend()</a:t>
            </a:r>
            <a:endParaRPr lang="en-US" sz="1267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47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문제 만점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제목·축 이름·범례까지 채점표에 있다. 그림이 맞아도 이름이 없으면 깎인다.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제출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plt.savefig('eda.png', dpi=300) — 파일로 내라는 문제가 자주 나온다.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savefig 를 show() 뒤에 쓰면 빈 이미지가 저장된다. show() 가 그림을 비우기 때문. 순서는 반드시 savefig → show.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47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꾸미기 네 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plt.plot(df[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'회차'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df[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label=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'실제 승률'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color=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'#4f46e5'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3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plt.plot(df[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'회차'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df[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'예측'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label=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'예측 승률'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color=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'#f43f5e'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36" dirty="0"/>
          </a:p>
          <a:p>
            <a:pPr indent="0" marL="0">
              <a:lnSpc>
                <a:spcPct val="115000"/>
              </a:lnSpc>
              <a:buNone/>
            </a:pPr>
            <a:endParaRPr lang="en-US" sz="93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'AICE 정예반 EDA 분석'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fontsize=14, fontweight=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'bold'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3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'회차'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3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'승률(%)'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3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plt.legend(loc=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'upper right'</a:t>
            </a:r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93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3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936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범례가 나오는 조건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그릴 때 label='이름' 을 주고, 나중에 plt.legend() 를 불러야 한다.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중 하나만 있으면 범례가 안 나온다 — 실기 단골.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47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legend(loc=) — 범례 위치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4791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plt.legend(loc=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'upper right'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우측 상단 (기본)</a:t>
            </a:r>
            <a:pPr indent="0" marL="0">
              <a:lnSpc>
                <a:spcPct val="115000"/>
              </a:lnSpc>
              <a:buNone/>
            </a:pPr>
            <a:endParaRPr lang="en-US" sz="111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plt.legend(loc=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'upper left'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좌측 상단</a:t>
            </a:r>
            <a:pPr indent="0" marL="0">
              <a:lnSpc>
                <a:spcPct val="115000"/>
              </a:lnSpc>
              <a:buNone/>
            </a:pPr>
            <a:endParaRPr lang="en-US" sz="111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plt.legend(loc=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'lower right'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우측 하단</a:t>
            </a:r>
            <a:pPr indent="0" marL="0">
              <a:lnSpc>
                <a:spcPct val="115000"/>
              </a:lnSpc>
              <a:buNone/>
            </a:pPr>
            <a:endParaRPr lang="en-US" sz="111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plt.legend(loc=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'best'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 </a:t>
            </a:r>
            <a:pPr indent="0" marL="0">
              <a:lnSpc>
                <a:spcPct val="115000"/>
              </a:lnSpc>
              <a:buNone/>
            </a:pPr>
            <a:r>
              <a:rPr lang="en-US" sz="111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겹치지 않는 곳으로 자동</a:t>
            </a:r>
            <a:endParaRPr lang="en-US" sz="1116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410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요령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947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선이 오른쪽 위로 올라가면 범례는 왼쪽 위(upper left)로. 데이터를 가리지 않는 자리를 고른다. 모르겠으면 'best'.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06440" y="1371600"/>
            <a:ext cx="2880360" cy="329184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값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upper right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upper left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lower right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lower left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center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따옴표 안 문자열이다.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47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savefig — 파일로 저장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790041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</a:t>
            </a:r>
            <a:pPr indent="0" marL="0">
              <a:lnSpc>
                <a:spcPct val="115000"/>
              </a:lnSpc>
              <a:buNone/>
            </a:pPr>
            <a:r>
              <a:rPr lang="en-US" sz="156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'final_eda_report.png'</a:t>
            </a:r>
            <a:pPr indent="0" marL="0">
              <a:lnSpc>
                <a:spcPct val="115000"/>
              </a:lnSpc>
              <a:buNone/>
            </a:pPr>
            <a:r>
              <a:rPr lang="en-US" sz="15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dpi=300, bbox_inches=</a:t>
            </a:r>
            <a:pPr indent="0" marL="0">
              <a:lnSpc>
                <a:spcPct val="115000"/>
              </a:lnSpc>
              <a:buNone/>
            </a:pPr>
            <a:r>
              <a:rPr lang="en-US" sz="156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'tight'</a:t>
            </a:r>
            <a:pPr indent="0" marL="0">
              <a:lnSpc>
                <a:spcPct val="115000"/>
              </a:lnSpc>
              <a:buNone/>
            </a:pPr>
            <a:r>
              <a:rPr lang="en-US" sz="15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56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6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      </a:t>
            </a:r>
            <a:pPr indent="0" marL="0">
              <a:lnSpc>
                <a:spcPct val="115000"/>
              </a:lnSpc>
              <a:buNone/>
            </a:pPr>
            <a:r>
              <a:rPr lang="en-US" sz="1562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저장한 뒤에 보여준다</a:t>
            </a:r>
            <a:endParaRPr lang="en-US" sz="1562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077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dpi — 해상도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918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 은 인쇄용 고화질, 100 은 웹 표준. 실기에서 지정해 주면 그대로, 없으면 300.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274320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29077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bbox_inches='tight'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329184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제목이나 축 이름이 잘리지 않게 여백을 자동으로 맞춘다. 안 쓰면 긴 라벨이 잘린 채 저장된다.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47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show() 뒤에 savefig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이미지가 저장된다. 순서는 savefig → show. 가장 흔한 사고.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 없이 legend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'No artists with labels found' 경고만 뜨고 범례가 안 나온다. 그릴 때 label= 을 준다.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이름·확장자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지정한 이름 그대로. .png 를 빼면 확장자 없는 파일이 생겨 채점기가 못 찾는다.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</a:t>
            </a:r>
            <a:pPr indent="0" marL="0">
              <a:lnSpc>
                <a:spcPct val="115000"/>
              </a:lnSpc>
              <a:buNone/>
            </a:pPr>
            <a:r>
              <a:rPr lang="en-US" sz="152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'eda.png'</a:t>
            </a:r>
            <a:pPr indent="0" marL="0">
              <a:lnSpc>
                <a:spcPct val="115000"/>
              </a:lnSpc>
              <a:buNone/>
            </a:pPr>
            <a:r>
              <a:rPr lang="en-US" sz="15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dpi=300, bbox_inches=</a:t>
            </a:r>
            <a:pPr indent="0" marL="0">
              <a:lnSpc>
                <a:spcPct val="115000"/>
              </a:lnSpc>
              <a:buNone/>
            </a:pPr>
            <a:r>
              <a:rPr lang="en-US" sz="152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'tight'</a:t>
            </a:r>
            <a:pPr indent="0" marL="0">
              <a:lnSpc>
                <a:spcPct val="115000"/>
              </a:lnSpc>
              <a:buNone/>
            </a:pPr>
            <a:r>
              <a:rPr lang="en-US" sz="15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indent="0" marL="0">
              <a:lnSpc>
                <a:spcPct val="115000"/>
              </a:lnSpc>
              <a:buNone/>
            </a:pPr>
            <a:r>
              <a:rPr lang="en-US" sz="152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먼저 저장</a:t>
            </a:r>
            <a:pPr indent="0" marL="0">
              <a:lnSpc>
                <a:spcPct val="115000"/>
              </a:lnSpc>
              <a:buNone/>
            </a:pPr>
            <a:endParaRPr lang="en-US" sz="152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2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                     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526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그다음 표시</a:t>
            </a:r>
            <a:endParaRPr lang="en-US" sz="1526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47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완성된 차트 한 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1328"/>
            <a:ext cx="79004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9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matplotlib.pyplot </a:t>
            </a:r>
            <a:pPr indent="0" marL="0">
              <a:lnSpc>
                <a:spcPct val="115000"/>
              </a:lnSpc>
              <a:buNone/>
            </a:pPr>
            <a:r>
              <a:rPr lang="en-US" sz="129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plt</a:t>
            </a:r>
            <a:pPr indent="0" marL="0">
              <a:lnSpc>
                <a:spcPct val="115000"/>
              </a:lnSpc>
              <a:buNone/>
            </a:pPr>
            <a:endParaRPr lang="en-US" sz="129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plt.rc(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'font'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family=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'Malgun Gothic'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  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26차시</a:t>
            </a:r>
            <a:pPr indent="0" marL="0">
              <a:lnSpc>
                <a:spcPct val="115000"/>
              </a:lnSpc>
              <a:buNone/>
            </a:pPr>
            <a:endParaRPr lang="en-US" sz="1291" dirty="0"/>
          </a:p>
          <a:p>
            <a:pPr indent="0" marL="0">
              <a:lnSpc>
                <a:spcPct val="115000"/>
              </a:lnSpc>
              <a:buNone/>
            </a:pPr>
            <a:endParaRPr lang="en-US" sz="129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 = df.groupby(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].mean().reset_index()   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24차시</a:t>
            </a:r>
            <a:pPr indent="0" marL="0">
              <a:lnSpc>
                <a:spcPct val="115000"/>
              </a:lnSpc>
              <a:buNone/>
            </a:pPr>
            <a:endParaRPr lang="en-US" sz="129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plt.figure(figsize=(7, 4))</a:t>
            </a:r>
            <a:pPr indent="0" marL="0">
              <a:lnSpc>
                <a:spcPct val="115000"/>
              </a:lnSpc>
              <a:buNone/>
            </a:pPr>
            <a:endParaRPr lang="en-US" sz="129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plt.bar(stat[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stat[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color=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'#4f46e5'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label=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'평균 승률'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29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'포지션별 평균 승률'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fontsize=14, fontweight=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'bold'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29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'포지션'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plt.ylabel(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'승률(%)'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29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plt.legend(loc=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'upper right'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29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'eda.png'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dpi=300, bbox_inches=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'tight'</a:t>
            </a:r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29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9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91" dirty="0"/>
          </a:p>
        </p:txBody>
      </p:sp>
      <p:sp>
        <p:nvSpPr>
          <p:cNvPr id="6" name="Shape 4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5079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폰트 → 데이터 → 그리기 → 꾸미기 → 저장 → 표시. 이 순서를 손에 익힌다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47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30차시 (10분) · 확인 퀴즈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「제목·범례 및 저장 서식 조립」 버튼 → 선 그래프에 제목·범례를 달고 savefig 로 저장하는 코드가 나타난다.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766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문구, 범례 위치(upper right·upper left·lower right), 해상도(300·100)를 고르고 「파라미터 적용」. dpi 300 과 100 의 차이를 먼저 말한다.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0" y="1874520"/>
            <a:ext cx="259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제목과 범례가 붙은 최종 차트. Part 3 에서 배운 네 가지 그림 중 무엇을 보고서에 쓸지 정해 본다.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savefig 와 show 의 순서는?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savefig 먼저, show 나중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범례가 안 나올 때 빠진 것은?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그릴 때의 label='이름'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47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제목·축·범례를 달고 저장해야 끝난다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plt.title(…, fontsize=14) · xlabel · ylabel — 배점 항목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label='이름' + plt.legend(loc='…') 이 한 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plt.savefig('파일.png', dpi=300, bbox_inches='tight') 를 show 앞에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끝 — 다음은 머신러닝(31차시 X·y 분리)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→ Part 4. 머신러닝 — 31차시 문제지(X)와 정답지(y) 분리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47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정지원</dc:creator>
  <cp:lastModifiedBy>정지원</cp:lastModifiedBy>
  <cp:revision>1</cp:revision>
  <dcterms:created xsi:type="dcterms:W3CDTF">2026-09-23T01:22:28Z</dcterms:created>
  <dcterms:modified xsi:type="dcterms:W3CDTF">2026-09-23T01:22:28Z</dcterms:modified>
</cp:coreProperties>
</file>