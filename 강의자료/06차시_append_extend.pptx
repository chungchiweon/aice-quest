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1분: '가방에 사과 1개 vs 사과 박스' 비유로 시작. 오늘 목표는 리스트 안에 리스트가 들어가는 사고를 막는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리스트 단일 추가 vs 묶음 확장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가방에 아이템 하나 넣기 vs 박스째 쏟아붓기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append()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extend()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어소시에이트 실기 · 파이썬 기초 · 흥해공고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교차검증 점수 누적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반복문 안에서 scores.append(score) — 실기 정답 코드에 그대로 나오는 패턴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 대체 목록 합치기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컬럼 이름 리스트를 하나로 — cols.extend(more_cols)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append(리스트) 를 쓰면 리스트 안에 리스트가 통째로 들어간다. 나중에 len() 이나 인덱스가 전부 어긋난다 — 실기에서 가장 흔한 오답 원인.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append() — 아이템 하나를 원소로 덧붙인다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442569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= [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'기본검'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'물약'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inventory.append(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'전설의활'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(inventory)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(inventory))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849624"/>
            <a:ext cx="4425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['기본검', '물약', '전설의활']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40680" y="137160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15361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920240"/>
            <a:ext cx="2788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괄호 안의 것이 통째로 원소 1개가 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그래서 len 은 딱 1 늘어난다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리스트를 넣으면 리스트가 원소가 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→ [1, 2, [3, 4]]  (중첩!)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extend() — 다른 리스트의 알맹이를 꺼내 붙인다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442569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= [</a:t>
            </a:r>
            <a:pPr indent="0" marL="0">
              <a:lnSpc>
                <a:spcPct val="115000"/>
              </a:lnSpc>
              <a:buNone/>
            </a:pPr>
            <a:r>
              <a:rPr lang="en-US" sz="140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'기본검'</a:t>
            </a:r>
            <a:pPr indent="0" marL="0">
              <a:lnSpc>
                <a:spcPct val="115000"/>
              </a:lnSpc>
              <a:buNone/>
            </a:pPr>
            <a:r>
              <a:rPr lang="en-US" sz="140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40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'물약'</a:t>
            </a:r>
            <a:pPr indent="0" marL="0">
              <a:lnSpc>
                <a:spcPct val="115000"/>
              </a:lnSpc>
              <a:buNone/>
            </a:pPr>
            <a:r>
              <a:rPr lang="en-US" sz="140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5000"/>
              </a:lnSpc>
              <a:buNone/>
            </a:pPr>
            <a:endParaRPr lang="en-US" sz="14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inventory.extend([</a:t>
            </a:r>
            <a:pPr indent="0" marL="0">
              <a:lnSpc>
                <a:spcPct val="115000"/>
              </a:lnSpc>
              <a:buNone/>
            </a:pPr>
            <a:r>
              <a:rPr lang="en-US" sz="140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'보석_1'</a:t>
            </a:r>
            <a:pPr indent="0" marL="0">
              <a:lnSpc>
                <a:spcPct val="115000"/>
              </a:lnSpc>
              <a:buNone/>
            </a:pPr>
            <a:r>
              <a:rPr lang="en-US" sz="140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5000"/>
              </a:lnSpc>
              <a:buNone/>
            </a:pPr>
            <a:r>
              <a:rPr lang="en-US" sz="140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'보석_2'</a:t>
            </a:r>
            <a:pPr indent="0" marL="0">
              <a:lnSpc>
                <a:spcPct val="115000"/>
              </a:lnSpc>
              <a:buNone/>
            </a:pPr>
            <a:r>
              <a:rPr lang="en-US" sz="140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pPr indent="0" marL="0">
              <a:lnSpc>
                <a:spcPct val="115000"/>
              </a:lnSpc>
              <a:buNone/>
            </a:pPr>
            <a:endParaRPr lang="en-US" sz="14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0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(inventory)</a:t>
            </a:r>
            <a:pPr indent="0" marL="0">
              <a:lnSpc>
                <a:spcPct val="115000"/>
              </a:lnSpc>
              <a:buNone/>
            </a:pPr>
            <a:endParaRPr lang="en-US" sz="140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0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0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40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(inventory))</a:t>
            </a:r>
            <a:endParaRPr lang="en-US" sz="1406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849624"/>
            <a:ext cx="44256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8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['기본검', '물약', '보석_1', '보석_2']</a:t>
            </a:r>
            <a:endParaRPr lang="en-US" sz="1388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88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88" dirty="0"/>
          </a:p>
        </p:txBody>
      </p:sp>
      <p:sp>
        <p:nvSpPr>
          <p:cNvPr id="10" name="Shape 8"/>
          <p:cNvSpPr/>
          <p:nvPr/>
        </p:nvSpPr>
        <p:spPr>
          <a:xfrm>
            <a:off x="5440680" y="1371600"/>
            <a:ext cx="3246120" cy="3246120"/>
          </a:xfrm>
          <a:prstGeom prst="roundRect">
            <a:avLst>
              <a:gd name="adj" fmla="val 2817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153619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920240"/>
            <a:ext cx="2788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괄호 안은 반드시 '여러 개' (리스트·튜플·문자열)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알맹이 개수만큼 len 이 늘어난다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문자열을 넣으면 글자 하나하나가 들어간다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extend('abc') → 'a', 'b', 'c'  (주의!)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재료, 다른 결과 — 나란히 비교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3648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8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2]</a:t>
            </a:r>
            <a:pPr indent="0" marL="0">
              <a:lnSpc>
                <a:spcPct val="115000"/>
              </a:lnSpc>
              <a:buNone/>
            </a:pPr>
            <a:endParaRPr lang="en-US" sz="148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8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a.append([3, 4])</a:t>
            </a:r>
            <a:pPr indent="0" marL="0">
              <a:lnSpc>
                <a:spcPct val="115000"/>
              </a:lnSpc>
              <a:buNone/>
            </a:pPr>
            <a:endParaRPr lang="en-US" sz="148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8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8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      # [1, 2, [3, 4]]</a:t>
            </a:r>
            <a:pPr indent="0" marL="0">
              <a:lnSpc>
                <a:spcPct val="115000"/>
              </a:lnSpc>
              <a:buNone/>
            </a:pPr>
            <a:endParaRPr lang="en-US" sz="1481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8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48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481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48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(a)) # 3</a:t>
            </a:r>
            <a:endParaRPr lang="en-US" sz="1481" dirty="0"/>
          </a:p>
        </p:txBody>
      </p:sp>
      <p:sp>
        <p:nvSpPr>
          <p:cNvPr id="7" name="Shape 5"/>
          <p:cNvSpPr/>
          <p:nvPr/>
        </p:nvSpPr>
        <p:spPr>
          <a:xfrm>
            <a:off x="4709160" y="1371600"/>
            <a:ext cx="3977640" cy="1737360"/>
          </a:xfrm>
          <a:prstGeom prst="roundRect">
            <a:avLst>
              <a:gd name="adj" fmla="val 4211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73752" y="1481328"/>
            <a:ext cx="364845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[1, 2]</a:t>
            </a:r>
            <a:pPr indent="0" marL="0">
              <a:lnSpc>
                <a:spcPct val="115000"/>
              </a:lnSpc>
              <a:buNone/>
            </a:pPr>
            <a:endParaRPr lang="en-US" sz="15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b.extend([3, 4])</a:t>
            </a:r>
            <a:pPr indent="0" marL="0">
              <a:lnSpc>
                <a:spcPct val="115000"/>
              </a:lnSpc>
              <a:buNone/>
            </a:pPr>
            <a:endParaRPr lang="en-US" sz="15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8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      # [1, 2, 3, 4]</a:t>
            </a:r>
            <a:pPr indent="0" marL="0">
              <a:lnSpc>
                <a:spcPct val="115000"/>
              </a:lnSpc>
              <a:buNone/>
            </a:pPr>
            <a:endParaRPr lang="en-US" sz="1587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8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587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587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(b)) # 4</a:t>
            </a:r>
            <a:endParaRPr lang="en-US" sz="1587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4564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 → 중첩 리스트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40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3번째 원소가 [3, 4] 라는 '리스트 한 덩어리'. a[2][0] 처럼 두 번 파고 들어가야 3이 나온다.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3291840"/>
            <a:ext cx="3977640" cy="128016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34564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extend → 평평한 리스트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840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 4 가 각각 원소. 실기에서 원하는 모양은 거의 항상 이쪽.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 에 리스트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scores.append([90, 85]) → 원소가 1개(리스트)로 들어감. 두 점수를 각각 넣고 싶으면 extend.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extend 에 문자열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names.extend('철수') → '철', '수' 로 쪼개짐. 이름 하나는 append('철수').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변수에 받기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 = a.append(1) 은 x 가 None. 두 함수 모두 리스트를 '제자리에서' 바꾸고 아무것도 돌려주지 않는다.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264408"/>
            <a:ext cx="79004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scores.append(90)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(x)   #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이미 scores 가 바뀌었다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교차검증 점수 모으기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2240280"/>
          </a:xfrm>
          <a:prstGeom prst="roundRect">
            <a:avLst>
              <a:gd name="adj" fmla="val 3265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479145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[]</a:t>
            </a:r>
            <a:pPr indent="0" marL="0">
              <a:lnSpc>
                <a:spcPct val="115000"/>
              </a:lnSpc>
              <a:buNone/>
            </a:pPr>
            <a:endParaRPr lang="en-US" sz="13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5000"/>
              </a:lnSpc>
              <a:buNone/>
            </a:pPr>
            <a:r>
              <a:rPr lang="en-US" sz="13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fold </a:t>
            </a:r>
            <a:pPr indent="0" marL="0">
              <a:lnSpc>
                <a:spcPct val="115000"/>
              </a:lnSpc>
              <a:buNone/>
            </a:pPr>
            <a:r>
              <a:rPr lang="en-US" sz="13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5000"/>
              </a:lnSpc>
              <a:buNone/>
            </a:pPr>
            <a:r>
              <a:rPr lang="en-US" sz="13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pPr indent="0" marL="0">
              <a:lnSpc>
                <a:spcPct val="115000"/>
              </a:lnSpc>
              <a:buNone/>
            </a:pPr>
            <a:r>
              <a:rPr lang="en-US" sz="13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(5):</a:t>
            </a:r>
            <a:pPr indent="0" marL="0">
              <a:lnSpc>
                <a:spcPct val="115000"/>
              </a:lnSpc>
              <a:buNone/>
            </a:pPr>
            <a:endParaRPr lang="en-US" sz="13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= 80 + fold * 2    # 폴드별 점수</a:t>
            </a:r>
            <a:pPr indent="0" marL="0">
              <a:lnSpc>
                <a:spcPct val="115000"/>
              </a:lnSpc>
              <a:buNone/>
            </a:pPr>
            <a:endParaRPr lang="en-US" sz="13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scores.append(score)</a:t>
            </a:r>
            <a:pPr indent="0" marL="0">
              <a:lnSpc>
                <a:spcPct val="115000"/>
              </a:lnSpc>
              <a:buNone/>
            </a:pPr>
            <a:endParaRPr lang="en-US" sz="13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(scores)</a:t>
            </a:r>
            <a:pPr indent="0" marL="0">
              <a:lnSpc>
                <a:spcPct val="115000"/>
              </a:lnSpc>
              <a:buNone/>
            </a:pPr>
            <a:endParaRPr lang="en-US" sz="1376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376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'평균:'</a:t>
            </a:r>
            <a:pPr indent="0" marL="0">
              <a:lnSpc>
                <a:spcPct val="115000"/>
              </a:lnSpc>
              <a:buNone/>
            </a:pPr>
            <a:r>
              <a:rPr lang="en-US" sz="13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sum(scores) / </a:t>
            </a:r>
            <a:pPr indent="0" marL="0">
              <a:lnSpc>
                <a:spcPct val="115000"/>
              </a:lnSpc>
              <a:buNone/>
            </a:pPr>
            <a:r>
              <a:rPr lang="en-US" sz="1376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376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(scores))</a:t>
            </a:r>
            <a:endParaRPr lang="en-US" sz="1376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8221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4078224"/>
            <a:ext cx="479145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8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[80, 82, 84, 86, 88]</a:t>
            </a:r>
            <a:endParaRPr lang="en-US" sz="128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82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평균: 84.0</a:t>
            </a:r>
            <a:endParaRPr lang="en-US" sz="1282" dirty="0"/>
          </a:p>
        </p:txBody>
      </p:sp>
      <p:sp>
        <p:nvSpPr>
          <p:cNvPr id="10" name="Shape 8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append 인가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반복마다 점수가 '하나' 나온다. 하나씩 덧붙이니 append.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반대로 두 실험의 점수 리스트를 합칠 때는 all_scores.extend(scores).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6차시 (10분)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「append &amp; extend 리스트 조립」 버튼을 누르면 코드가 나타난다. 다섯 줄을 소리 내어 읽는다.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 로 넣을 단일 템(전설의활·마법지팡이·방패)과 extend 박스 알맹이 수(1~4)를 고르고 「파라미터 적용」. 코드가 바뀌는 걸 본다.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막대 셋: 기본 2 → append 후 3 → extend 후 3+박스 수. 누르기 전에 마지막 숫자를 먼저 말해 보기.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56616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박스를 4개로 올렸을 때 extend 대신 append 를 쓰면 슬롯이 몇 개가 될까?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(답: 4개 — 박스 하나가 원소 1개로 들어간다) 짝과 답을 맞춰 보세요.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813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4813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[1]; a.append([2, 3]); len(a) 는?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2 — [1, [2, 3]]. 리스트가 원소 1개로 들어갔다.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5786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578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[1]; b.extend([2, 3]); b 는?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[1, 2, 3] — 알맹이가 각각 들어갔다.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6758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675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하나를 추가할 때 append 와 extend 중 무엇을 쓰나?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append('이름'). extend 는 글자를 쪼갠다.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 는 하나, extend 는 알맹이 전부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append(x) — x 가 통째로 원소 1개. len +1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extend(리스트) — 알맹이가 각각 원소. len +N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다 돌려주는 값은 None — 결과를 변수에 받지 않는다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반복문 안 scores.append(score)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 → 7차시 pop() vs remove() — 순번으로 꺼내기 vs 이름으로 삭제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정지원</dc:creator>
  <cp:lastModifiedBy>정지원</cp:lastModifiedBy>
  <cp:revision>1</cp:revision>
  <dcterms:created xsi:type="dcterms:W3CDTF">2026-09-21T01:59:47Z</dcterms:created>
  <dcterms:modified xsi:type="dcterms:W3CDTF">2026-09-21T01:59:47Z</dcterms:modified>
</cp:coreProperties>
</file>